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0276800" cy="21374100"/>
  <p:notesSz cx="6858000" cy="9144000"/>
  <p:embeddedFontLst>
    <p:embeddedFont>
      <p:font typeface="Archivo Narrow Bold" charset="1" panose="020B0806020202020B04"/>
      <p:regular r:id="rId7"/>
    </p:embeddedFont>
    <p:embeddedFont>
      <p:font typeface="Archivo Narrow" charset="1" panose="020B0506020202020B04"/>
      <p:regular r:id="rId8"/>
    </p:embeddedFont>
    <p:embeddedFont>
      <p:font typeface="Canva Sans Bold" charset="1" panose="020B0803030501040103"/>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png" Type="http://schemas.openxmlformats.org/officeDocument/2006/relationships/image"/><Relationship Id="rId30" Target="../media/image29.svg" Type="http://schemas.openxmlformats.org/officeDocument/2006/relationships/image"/><Relationship Id="rId31" Target="../media/image30.png" Type="http://schemas.openxmlformats.org/officeDocument/2006/relationships/image"/><Relationship Id="rId32" Target="../media/image31.png" Type="http://schemas.openxmlformats.org/officeDocument/2006/relationships/image"/><Relationship Id="rId33" Target="../media/image32.svg" Type="http://schemas.openxmlformats.org/officeDocument/2006/relationships/image"/><Relationship Id="rId34" Target="../media/image33.png" Type="http://schemas.openxmlformats.org/officeDocument/2006/relationships/image"/><Relationship Id="rId35" Target="../media/image34.svg" Type="http://schemas.openxmlformats.org/officeDocument/2006/relationships/image"/><Relationship Id="rId36" Target="../media/image35.png" Type="http://schemas.openxmlformats.org/officeDocument/2006/relationships/image"/><Relationship Id="rId37" Target="../media/image36.svg" Type="http://schemas.openxmlformats.org/officeDocument/2006/relationships/image"/><Relationship Id="rId38" Target="../media/image37.png" Type="http://schemas.openxmlformats.org/officeDocument/2006/relationships/image"/><Relationship Id="rId39" Target="../media/image38.png" Type="http://schemas.openxmlformats.org/officeDocument/2006/relationships/image"/><Relationship Id="rId4" Target="../media/image3.png" Type="http://schemas.openxmlformats.org/officeDocument/2006/relationships/image"/><Relationship Id="rId40" Target="../media/image39.png" Type="http://schemas.openxmlformats.org/officeDocument/2006/relationships/image"/><Relationship Id="rId41" Target="../media/image40.png" Type="http://schemas.openxmlformats.org/officeDocument/2006/relationships/image"/><Relationship Id="rId42" Target="../media/image41.png" Type="http://schemas.openxmlformats.org/officeDocument/2006/relationships/image"/><Relationship Id="rId43" Target="../media/image42.png" Type="http://schemas.openxmlformats.org/officeDocument/2006/relationships/image"/><Relationship Id="rId44" Target="../media/image43.png" Type="http://schemas.openxmlformats.org/officeDocument/2006/relationships/image"/><Relationship Id="rId45" Target="../media/image44.png" Type="http://schemas.openxmlformats.org/officeDocument/2006/relationships/image"/><Relationship Id="rId46" Target="../media/image45.png" Type="http://schemas.openxmlformats.org/officeDocument/2006/relationships/image"/><Relationship Id="rId47" Target="../media/image46.png" Type="http://schemas.openxmlformats.org/officeDocument/2006/relationships/image"/><Relationship Id="rId48" Target="../media/image47.png" Type="http://schemas.openxmlformats.org/officeDocument/2006/relationships/image"/><Relationship Id="rId49" Target="../media/image48.png" Type="http://schemas.openxmlformats.org/officeDocument/2006/relationships/image"/><Relationship Id="rId5" Target="../media/image4.png" Type="http://schemas.openxmlformats.org/officeDocument/2006/relationships/image"/><Relationship Id="rId50" Target="../media/image49.png" Type="http://schemas.openxmlformats.org/officeDocument/2006/relationships/image"/><Relationship Id="rId51" Target="../media/image50.png" Type="http://schemas.openxmlformats.org/officeDocument/2006/relationships/image"/><Relationship Id="rId52" Target="../media/image51.png" Type="http://schemas.openxmlformats.org/officeDocument/2006/relationships/image"/><Relationship Id="rId53" Target="../media/image52.png" Type="http://schemas.openxmlformats.org/officeDocument/2006/relationships/image"/><Relationship Id="rId54" Target="../media/image53.png" Type="http://schemas.openxmlformats.org/officeDocument/2006/relationships/image"/><Relationship Id="rId55" Target="../media/image5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572332" y="20349369"/>
            <a:ext cx="9816580" cy="556392"/>
            <a:chOff x="0" y="0"/>
            <a:chExt cx="1429179" cy="81004"/>
          </a:xfrm>
        </p:grpSpPr>
        <p:sp>
          <p:nvSpPr>
            <p:cNvPr name="Freeform 3" id="3"/>
            <p:cNvSpPr/>
            <p:nvPr/>
          </p:nvSpPr>
          <p:spPr>
            <a:xfrm flipH="false" flipV="false" rot="0">
              <a:off x="0" y="0"/>
              <a:ext cx="1429179" cy="81004"/>
            </a:xfrm>
            <a:custGeom>
              <a:avLst/>
              <a:gdLst/>
              <a:ahLst/>
              <a:cxnLst/>
              <a:rect r="r" b="b" t="t" l="l"/>
              <a:pathLst>
                <a:path h="81004" w="1429179">
                  <a:moveTo>
                    <a:pt x="0" y="0"/>
                  </a:moveTo>
                  <a:lnTo>
                    <a:pt x="1429179" y="0"/>
                  </a:lnTo>
                  <a:lnTo>
                    <a:pt x="1429179" y="81004"/>
                  </a:lnTo>
                  <a:lnTo>
                    <a:pt x="0" y="81004"/>
                  </a:lnTo>
                  <a:close/>
                </a:path>
              </a:pathLst>
            </a:custGeom>
            <a:solidFill>
              <a:srgbClr val="F0F6FA"/>
            </a:solidFill>
          </p:spPr>
        </p:sp>
        <p:sp>
          <p:nvSpPr>
            <p:cNvPr name="TextBox 4" id="4"/>
            <p:cNvSpPr txBox="true"/>
            <p:nvPr/>
          </p:nvSpPr>
          <p:spPr>
            <a:xfrm>
              <a:off x="0" y="-9525"/>
              <a:ext cx="1429179" cy="90529"/>
            </a:xfrm>
            <a:prstGeom prst="rect">
              <a:avLst/>
            </a:prstGeom>
          </p:spPr>
          <p:txBody>
            <a:bodyPr anchor="ctr" rtlCol="false" tIns="50800" lIns="50800" bIns="50800" rIns="50800"/>
            <a:lstStyle/>
            <a:p>
              <a:pPr algn="ctr">
                <a:lnSpc>
                  <a:spcPts val="4139"/>
                </a:lnSpc>
              </a:pPr>
            </a:p>
          </p:txBody>
        </p:sp>
      </p:grpSp>
      <p:grpSp>
        <p:nvGrpSpPr>
          <p:cNvPr name="Group 5" id="5"/>
          <p:cNvGrpSpPr/>
          <p:nvPr/>
        </p:nvGrpSpPr>
        <p:grpSpPr>
          <a:xfrm rot="0">
            <a:off x="1143000" y="16029702"/>
            <a:ext cx="3739482" cy="4378734"/>
            <a:chOff x="0" y="0"/>
            <a:chExt cx="1405359" cy="1645313"/>
          </a:xfrm>
        </p:grpSpPr>
        <p:sp>
          <p:nvSpPr>
            <p:cNvPr name="Freeform 6" id="6"/>
            <p:cNvSpPr/>
            <p:nvPr/>
          </p:nvSpPr>
          <p:spPr>
            <a:xfrm flipH="false" flipV="false" rot="0">
              <a:off x="0" y="0"/>
              <a:ext cx="1405359" cy="1645313"/>
            </a:xfrm>
            <a:custGeom>
              <a:avLst/>
              <a:gdLst/>
              <a:ahLst/>
              <a:cxnLst/>
              <a:rect r="r" b="b" t="t" l="l"/>
              <a:pathLst>
                <a:path h="1645313" w="1405359">
                  <a:moveTo>
                    <a:pt x="1405359" y="51758"/>
                  </a:moveTo>
                  <a:lnTo>
                    <a:pt x="1405359" y="1593555"/>
                  </a:lnTo>
                  <a:cubicBezTo>
                    <a:pt x="1405359" y="1622140"/>
                    <a:pt x="1382187" y="1645313"/>
                    <a:pt x="1353601" y="1645313"/>
                  </a:cubicBezTo>
                  <a:lnTo>
                    <a:pt x="51758" y="1645313"/>
                  </a:lnTo>
                  <a:cubicBezTo>
                    <a:pt x="23173" y="1645313"/>
                    <a:pt x="0" y="1622140"/>
                    <a:pt x="0" y="1593555"/>
                  </a:cubicBezTo>
                  <a:lnTo>
                    <a:pt x="0" y="51758"/>
                  </a:lnTo>
                  <a:cubicBezTo>
                    <a:pt x="0" y="23173"/>
                    <a:pt x="23173" y="0"/>
                    <a:pt x="51758" y="0"/>
                  </a:cubicBezTo>
                  <a:lnTo>
                    <a:pt x="1353601" y="0"/>
                  </a:lnTo>
                  <a:cubicBezTo>
                    <a:pt x="1382187" y="0"/>
                    <a:pt x="1405359" y="23173"/>
                    <a:pt x="1405359" y="51758"/>
                  </a:cubicBezTo>
                  <a:close/>
                </a:path>
              </a:pathLst>
            </a:custGeom>
            <a:solidFill>
              <a:srgbClr val="FFFFFF"/>
            </a:solidFill>
            <a:ln w="19050" cap="rnd">
              <a:solidFill>
                <a:srgbClr val="092243"/>
              </a:solidFill>
              <a:prstDash val="solid"/>
              <a:round/>
            </a:ln>
          </p:spPr>
        </p:sp>
        <p:sp>
          <p:nvSpPr>
            <p:cNvPr name="TextBox 7" id="7"/>
            <p:cNvSpPr txBox="true"/>
            <p:nvPr/>
          </p:nvSpPr>
          <p:spPr>
            <a:xfrm>
              <a:off x="0" y="-9525"/>
              <a:ext cx="1405359" cy="1654838"/>
            </a:xfrm>
            <a:prstGeom prst="rect">
              <a:avLst/>
            </a:prstGeom>
          </p:spPr>
          <p:txBody>
            <a:bodyPr anchor="ctr" rtlCol="false" tIns="50800" lIns="50800" bIns="50800" rIns="50800"/>
            <a:lstStyle/>
            <a:p>
              <a:pPr algn="ctr">
                <a:lnSpc>
                  <a:spcPts val="4139"/>
                </a:lnSpc>
              </a:pPr>
            </a:p>
          </p:txBody>
        </p:sp>
      </p:grpSp>
      <p:sp>
        <p:nvSpPr>
          <p:cNvPr name="Freeform 8" id="8"/>
          <p:cNvSpPr/>
          <p:nvPr/>
        </p:nvSpPr>
        <p:spPr>
          <a:xfrm flipH="false" flipV="false" rot="0">
            <a:off x="9060688" y="2400870"/>
            <a:ext cx="7356478" cy="8716327"/>
          </a:xfrm>
          <a:custGeom>
            <a:avLst/>
            <a:gdLst/>
            <a:ahLst/>
            <a:cxnLst/>
            <a:rect r="r" b="b" t="t" l="l"/>
            <a:pathLst>
              <a:path h="8716327" w="7356478">
                <a:moveTo>
                  <a:pt x="0" y="0"/>
                </a:moveTo>
                <a:lnTo>
                  <a:pt x="7356478" y="0"/>
                </a:lnTo>
                <a:lnTo>
                  <a:pt x="7356478" y="8716327"/>
                </a:lnTo>
                <a:lnTo>
                  <a:pt x="0" y="8716327"/>
                </a:lnTo>
                <a:lnTo>
                  <a:pt x="0" y="0"/>
                </a:lnTo>
                <a:close/>
              </a:path>
            </a:pathLst>
          </a:custGeom>
          <a:blipFill>
            <a:blip r:embed="rId2"/>
            <a:stretch>
              <a:fillRect l="-55320" t="0" r="-55320" b="0"/>
            </a:stretch>
          </a:blipFill>
        </p:spPr>
      </p:sp>
      <p:grpSp>
        <p:nvGrpSpPr>
          <p:cNvPr name="Group 9" id="9"/>
          <p:cNvGrpSpPr/>
          <p:nvPr/>
        </p:nvGrpSpPr>
        <p:grpSpPr>
          <a:xfrm rot="0">
            <a:off x="9060688" y="2353336"/>
            <a:ext cx="7356478" cy="8763861"/>
            <a:chOff x="0" y="0"/>
            <a:chExt cx="9808638" cy="11685148"/>
          </a:xfrm>
        </p:grpSpPr>
        <p:sp>
          <p:nvSpPr>
            <p:cNvPr name="Freeform 10" id="10"/>
            <p:cNvSpPr/>
            <p:nvPr/>
          </p:nvSpPr>
          <p:spPr>
            <a:xfrm flipH="false" flipV="false" rot="0">
              <a:off x="0" y="0"/>
              <a:ext cx="9808638" cy="11621769"/>
            </a:xfrm>
            <a:custGeom>
              <a:avLst/>
              <a:gdLst/>
              <a:ahLst/>
              <a:cxnLst/>
              <a:rect r="r" b="b" t="t" l="l"/>
              <a:pathLst>
                <a:path h="11621769" w="9808638">
                  <a:moveTo>
                    <a:pt x="0" y="0"/>
                  </a:moveTo>
                  <a:lnTo>
                    <a:pt x="9808638" y="0"/>
                  </a:lnTo>
                  <a:lnTo>
                    <a:pt x="9808638" y="11621769"/>
                  </a:lnTo>
                  <a:lnTo>
                    <a:pt x="0" y="11621769"/>
                  </a:lnTo>
                  <a:lnTo>
                    <a:pt x="0" y="0"/>
                  </a:lnTo>
                  <a:close/>
                </a:path>
              </a:pathLst>
            </a:custGeom>
            <a:blipFill>
              <a:blip r:embed="rId3">
                <a:alphaModFix amt="24000"/>
              </a:blip>
              <a:stretch>
                <a:fillRect l="-55320" t="0" r="-55320" b="0"/>
              </a:stretch>
            </a:blipFill>
          </p:spPr>
        </p:sp>
        <p:sp>
          <p:nvSpPr>
            <p:cNvPr name="Freeform 11" id="11"/>
            <p:cNvSpPr/>
            <p:nvPr/>
          </p:nvSpPr>
          <p:spPr>
            <a:xfrm flipH="false" flipV="false" rot="0">
              <a:off x="1356499" y="509625"/>
              <a:ext cx="6780030" cy="11175523"/>
            </a:xfrm>
            <a:custGeom>
              <a:avLst/>
              <a:gdLst/>
              <a:ahLst/>
              <a:cxnLst/>
              <a:rect r="r" b="b" t="t" l="l"/>
              <a:pathLst>
                <a:path h="11175523" w="6780030">
                  <a:moveTo>
                    <a:pt x="0" y="0"/>
                  </a:moveTo>
                  <a:lnTo>
                    <a:pt x="6780029" y="0"/>
                  </a:lnTo>
                  <a:lnTo>
                    <a:pt x="6780029" y="11175523"/>
                  </a:lnTo>
                  <a:lnTo>
                    <a:pt x="0" y="11175523"/>
                  </a:lnTo>
                  <a:lnTo>
                    <a:pt x="0" y="0"/>
                  </a:lnTo>
                  <a:close/>
                </a:path>
              </a:pathLst>
            </a:custGeom>
            <a:blipFill>
              <a:blip r:embed="rId4">
                <a:alphaModFix amt="47000"/>
              </a:blip>
              <a:stretch>
                <a:fillRect l="-100038" t="-3993" r="-104693" b="0"/>
              </a:stretch>
            </a:blipFill>
          </p:spPr>
        </p:sp>
      </p:grpSp>
      <p:grpSp>
        <p:nvGrpSpPr>
          <p:cNvPr name="Group 12" id="12"/>
          <p:cNvGrpSpPr/>
          <p:nvPr/>
        </p:nvGrpSpPr>
        <p:grpSpPr>
          <a:xfrm rot="0">
            <a:off x="925707" y="648795"/>
            <a:ext cx="28428561" cy="1964587"/>
            <a:chOff x="0" y="0"/>
            <a:chExt cx="3601936" cy="248916"/>
          </a:xfrm>
        </p:grpSpPr>
        <p:sp>
          <p:nvSpPr>
            <p:cNvPr name="Freeform 13" id="13"/>
            <p:cNvSpPr/>
            <p:nvPr/>
          </p:nvSpPr>
          <p:spPr>
            <a:xfrm flipH="false" flipV="false" rot="0">
              <a:off x="0" y="0"/>
              <a:ext cx="3601936" cy="248916"/>
            </a:xfrm>
            <a:custGeom>
              <a:avLst/>
              <a:gdLst/>
              <a:ahLst/>
              <a:cxnLst/>
              <a:rect r="r" b="b" t="t" l="l"/>
              <a:pathLst>
                <a:path h="248916" w="3601936">
                  <a:moveTo>
                    <a:pt x="0" y="0"/>
                  </a:moveTo>
                  <a:lnTo>
                    <a:pt x="3601936" y="0"/>
                  </a:lnTo>
                  <a:lnTo>
                    <a:pt x="3601936" y="248916"/>
                  </a:lnTo>
                  <a:lnTo>
                    <a:pt x="0" y="248916"/>
                  </a:lnTo>
                  <a:close/>
                </a:path>
              </a:pathLst>
            </a:custGeom>
            <a:solidFill>
              <a:srgbClr val="092243"/>
            </a:solidFill>
          </p:spPr>
        </p:sp>
        <p:sp>
          <p:nvSpPr>
            <p:cNvPr name="TextBox 14" id="14"/>
            <p:cNvSpPr txBox="true"/>
            <p:nvPr/>
          </p:nvSpPr>
          <p:spPr>
            <a:xfrm>
              <a:off x="0" y="-9525"/>
              <a:ext cx="3601936" cy="258441"/>
            </a:xfrm>
            <a:prstGeom prst="rect">
              <a:avLst/>
            </a:prstGeom>
          </p:spPr>
          <p:txBody>
            <a:bodyPr anchor="ctr" rtlCol="false" tIns="50800" lIns="50800" bIns="50800" rIns="50800"/>
            <a:lstStyle/>
            <a:p>
              <a:pPr algn="r">
                <a:lnSpc>
                  <a:spcPts val="4139"/>
                </a:lnSpc>
              </a:pPr>
            </a:p>
          </p:txBody>
        </p:sp>
      </p:grpSp>
      <p:grpSp>
        <p:nvGrpSpPr>
          <p:cNvPr name="Group 15" id="15"/>
          <p:cNvGrpSpPr/>
          <p:nvPr/>
        </p:nvGrpSpPr>
        <p:grpSpPr>
          <a:xfrm rot="0">
            <a:off x="6970073" y="3044468"/>
            <a:ext cx="2219002" cy="2746402"/>
            <a:chOff x="0" y="0"/>
            <a:chExt cx="2958669" cy="3661870"/>
          </a:xfrm>
        </p:grpSpPr>
        <p:grpSp>
          <p:nvGrpSpPr>
            <p:cNvPr name="Group 16" id="16"/>
            <p:cNvGrpSpPr/>
            <p:nvPr/>
          </p:nvGrpSpPr>
          <p:grpSpPr>
            <a:xfrm rot="0">
              <a:off x="0" y="0"/>
              <a:ext cx="2958669" cy="3661870"/>
              <a:chOff x="0" y="0"/>
              <a:chExt cx="1494332" cy="1849497"/>
            </a:xfrm>
          </p:grpSpPr>
          <p:sp>
            <p:nvSpPr>
              <p:cNvPr name="Freeform 17" id="17"/>
              <p:cNvSpPr/>
              <p:nvPr/>
            </p:nvSpPr>
            <p:spPr>
              <a:xfrm flipH="false" flipV="false" rot="0">
                <a:off x="0" y="0"/>
                <a:ext cx="1494332" cy="1849497"/>
              </a:xfrm>
              <a:custGeom>
                <a:avLst/>
                <a:gdLst/>
                <a:ahLst/>
                <a:cxnLst/>
                <a:rect r="r" b="b" t="t" l="l"/>
                <a:pathLst>
                  <a:path h="1849497" w="1494332">
                    <a:moveTo>
                      <a:pt x="53216" y="0"/>
                    </a:moveTo>
                    <a:lnTo>
                      <a:pt x="1441116" y="0"/>
                    </a:lnTo>
                    <a:cubicBezTo>
                      <a:pt x="1470507" y="0"/>
                      <a:pt x="1494332" y="23825"/>
                      <a:pt x="1494332" y="53216"/>
                    </a:cubicBezTo>
                    <a:lnTo>
                      <a:pt x="1494332" y="1796281"/>
                    </a:lnTo>
                    <a:cubicBezTo>
                      <a:pt x="1494332" y="1825672"/>
                      <a:pt x="1470507" y="1849497"/>
                      <a:pt x="1441116" y="1849497"/>
                    </a:cubicBezTo>
                    <a:lnTo>
                      <a:pt x="53216" y="1849497"/>
                    </a:lnTo>
                    <a:cubicBezTo>
                      <a:pt x="23825" y="1849497"/>
                      <a:pt x="0" y="1825672"/>
                      <a:pt x="0" y="1796281"/>
                    </a:cubicBezTo>
                    <a:lnTo>
                      <a:pt x="0" y="53216"/>
                    </a:lnTo>
                    <a:cubicBezTo>
                      <a:pt x="0" y="23825"/>
                      <a:pt x="23825" y="0"/>
                      <a:pt x="53216" y="0"/>
                    </a:cubicBezTo>
                    <a:close/>
                  </a:path>
                </a:pathLst>
              </a:custGeom>
              <a:solidFill>
                <a:srgbClr val="ECECE7"/>
              </a:solidFill>
            </p:spPr>
          </p:sp>
          <p:sp>
            <p:nvSpPr>
              <p:cNvPr name="TextBox 18" id="18"/>
              <p:cNvSpPr txBox="true"/>
              <p:nvPr/>
            </p:nvSpPr>
            <p:spPr>
              <a:xfrm>
                <a:off x="0" y="-47625"/>
                <a:ext cx="1494332" cy="1897122"/>
              </a:xfrm>
              <a:prstGeom prst="rect">
                <a:avLst/>
              </a:prstGeom>
            </p:spPr>
            <p:txBody>
              <a:bodyPr anchor="ctr" rtlCol="false" tIns="50800" lIns="50800" bIns="50800" rIns="50800"/>
              <a:lstStyle/>
              <a:p>
                <a:pPr algn="ctr">
                  <a:lnSpc>
                    <a:spcPts val="3639"/>
                  </a:lnSpc>
                </a:pPr>
              </a:p>
            </p:txBody>
          </p:sp>
        </p:grpSp>
        <p:sp>
          <p:nvSpPr>
            <p:cNvPr name="Freeform 19" id="19"/>
            <p:cNvSpPr/>
            <p:nvPr/>
          </p:nvSpPr>
          <p:spPr>
            <a:xfrm flipH="false" flipV="false" rot="0">
              <a:off x="0" y="317056"/>
              <a:ext cx="2958669" cy="3209482"/>
            </a:xfrm>
            <a:custGeom>
              <a:avLst/>
              <a:gdLst/>
              <a:ahLst/>
              <a:cxnLst/>
              <a:rect r="r" b="b" t="t" l="l"/>
              <a:pathLst>
                <a:path h="3209482" w="2958669">
                  <a:moveTo>
                    <a:pt x="0" y="0"/>
                  </a:moveTo>
                  <a:lnTo>
                    <a:pt x="2958669" y="0"/>
                  </a:lnTo>
                  <a:lnTo>
                    <a:pt x="2958669" y="3209483"/>
                  </a:lnTo>
                  <a:lnTo>
                    <a:pt x="0" y="3209483"/>
                  </a:lnTo>
                  <a:lnTo>
                    <a:pt x="0" y="0"/>
                  </a:lnTo>
                  <a:close/>
                </a:path>
              </a:pathLst>
            </a:custGeom>
            <a:blipFill>
              <a:blip r:embed="rId5"/>
              <a:stretch>
                <a:fillRect l="0" t="0" r="0" b="0"/>
              </a:stretch>
            </a:blipFill>
          </p:spPr>
        </p:sp>
      </p:grpSp>
      <p:grpSp>
        <p:nvGrpSpPr>
          <p:cNvPr name="Group 20" id="20"/>
          <p:cNvGrpSpPr/>
          <p:nvPr/>
        </p:nvGrpSpPr>
        <p:grpSpPr>
          <a:xfrm rot="0">
            <a:off x="5105549" y="6147849"/>
            <a:ext cx="4270127" cy="3190862"/>
            <a:chOff x="0" y="0"/>
            <a:chExt cx="5693502" cy="4254483"/>
          </a:xfrm>
        </p:grpSpPr>
        <p:sp>
          <p:nvSpPr>
            <p:cNvPr name="Freeform 21" id="21"/>
            <p:cNvSpPr/>
            <p:nvPr/>
          </p:nvSpPr>
          <p:spPr>
            <a:xfrm flipH="false" flipV="false" rot="0">
              <a:off x="0" y="0"/>
              <a:ext cx="2836322" cy="2127241"/>
            </a:xfrm>
            <a:custGeom>
              <a:avLst/>
              <a:gdLst/>
              <a:ahLst/>
              <a:cxnLst/>
              <a:rect r="r" b="b" t="t" l="l"/>
              <a:pathLst>
                <a:path h="2127241" w="2836322">
                  <a:moveTo>
                    <a:pt x="0" y="0"/>
                  </a:moveTo>
                  <a:lnTo>
                    <a:pt x="2836322" y="0"/>
                  </a:lnTo>
                  <a:lnTo>
                    <a:pt x="2836322" y="2127241"/>
                  </a:lnTo>
                  <a:lnTo>
                    <a:pt x="0" y="2127241"/>
                  </a:lnTo>
                  <a:lnTo>
                    <a:pt x="0" y="0"/>
                  </a:lnTo>
                  <a:close/>
                </a:path>
              </a:pathLst>
            </a:custGeom>
            <a:blipFill>
              <a:blip r:embed="rId6"/>
              <a:stretch>
                <a:fillRect l="0" t="0" r="0" b="0"/>
              </a:stretch>
            </a:blipFill>
            <a:ln cap="rnd">
              <a:noFill/>
              <a:prstDash val="sysDot"/>
              <a:round/>
            </a:ln>
          </p:spPr>
        </p:sp>
        <p:sp>
          <p:nvSpPr>
            <p:cNvPr name="Freeform 22" id="22"/>
            <p:cNvSpPr/>
            <p:nvPr/>
          </p:nvSpPr>
          <p:spPr>
            <a:xfrm flipH="false" flipV="false" rot="0">
              <a:off x="2857181" y="0"/>
              <a:ext cx="2836322" cy="2127241"/>
            </a:xfrm>
            <a:custGeom>
              <a:avLst/>
              <a:gdLst/>
              <a:ahLst/>
              <a:cxnLst/>
              <a:rect r="r" b="b" t="t" l="l"/>
              <a:pathLst>
                <a:path h="2127241" w="2836322">
                  <a:moveTo>
                    <a:pt x="0" y="0"/>
                  </a:moveTo>
                  <a:lnTo>
                    <a:pt x="2836321" y="0"/>
                  </a:lnTo>
                  <a:lnTo>
                    <a:pt x="2836321" y="2127241"/>
                  </a:lnTo>
                  <a:lnTo>
                    <a:pt x="0" y="2127241"/>
                  </a:lnTo>
                  <a:lnTo>
                    <a:pt x="0" y="0"/>
                  </a:lnTo>
                  <a:close/>
                </a:path>
              </a:pathLst>
            </a:custGeom>
            <a:blipFill>
              <a:blip r:embed="rId7"/>
              <a:stretch>
                <a:fillRect l="0" t="0" r="0" b="0"/>
              </a:stretch>
            </a:blipFill>
            <a:ln cap="rnd">
              <a:noFill/>
              <a:prstDash val="sysDot"/>
              <a:round/>
            </a:ln>
          </p:spPr>
        </p:sp>
        <p:sp>
          <p:nvSpPr>
            <p:cNvPr name="Freeform 23" id="23"/>
            <p:cNvSpPr/>
            <p:nvPr/>
          </p:nvSpPr>
          <p:spPr>
            <a:xfrm flipH="false" flipV="false" rot="0">
              <a:off x="0" y="2127241"/>
              <a:ext cx="2836322" cy="2127241"/>
            </a:xfrm>
            <a:custGeom>
              <a:avLst/>
              <a:gdLst/>
              <a:ahLst/>
              <a:cxnLst/>
              <a:rect r="r" b="b" t="t" l="l"/>
              <a:pathLst>
                <a:path h="2127241" w="2836322">
                  <a:moveTo>
                    <a:pt x="0" y="0"/>
                  </a:moveTo>
                  <a:lnTo>
                    <a:pt x="2836322" y="0"/>
                  </a:lnTo>
                  <a:lnTo>
                    <a:pt x="2836322" y="2127242"/>
                  </a:lnTo>
                  <a:lnTo>
                    <a:pt x="0" y="2127242"/>
                  </a:lnTo>
                  <a:lnTo>
                    <a:pt x="0" y="0"/>
                  </a:lnTo>
                  <a:close/>
                </a:path>
              </a:pathLst>
            </a:custGeom>
            <a:blipFill>
              <a:blip r:embed="rId8"/>
              <a:stretch>
                <a:fillRect l="0" t="0" r="0" b="0"/>
              </a:stretch>
            </a:blipFill>
            <a:ln cap="rnd">
              <a:noFill/>
              <a:prstDash val="sysDot"/>
              <a:round/>
            </a:ln>
          </p:spPr>
        </p:sp>
        <p:sp>
          <p:nvSpPr>
            <p:cNvPr name="Freeform 24" id="24"/>
            <p:cNvSpPr/>
            <p:nvPr/>
          </p:nvSpPr>
          <p:spPr>
            <a:xfrm flipH="false" flipV="false" rot="0">
              <a:off x="2857181" y="2127241"/>
              <a:ext cx="2836322" cy="2127241"/>
            </a:xfrm>
            <a:custGeom>
              <a:avLst/>
              <a:gdLst/>
              <a:ahLst/>
              <a:cxnLst/>
              <a:rect r="r" b="b" t="t" l="l"/>
              <a:pathLst>
                <a:path h="2127241" w="2836322">
                  <a:moveTo>
                    <a:pt x="0" y="0"/>
                  </a:moveTo>
                  <a:lnTo>
                    <a:pt x="2836321" y="0"/>
                  </a:lnTo>
                  <a:lnTo>
                    <a:pt x="2836321" y="2127242"/>
                  </a:lnTo>
                  <a:lnTo>
                    <a:pt x="0" y="2127242"/>
                  </a:lnTo>
                  <a:lnTo>
                    <a:pt x="0" y="0"/>
                  </a:lnTo>
                  <a:close/>
                </a:path>
              </a:pathLst>
            </a:custGeom>
            <a:blipFill>
              <a:blip r:embed="rId9"/>
              <a:stretch>
                <a:fillRect l="0" t="0" r="0" b="0"/>
              </a:stretch>
            </a:blipFill>
            <a:ln cap="rnd">
              <a:noFill/>
              <a:prstDash val="sysDot"/>
              <a:round/>
            </a:ln>
          </p:spPr>
        </p:sp>
      </p:grpSp>
      <p:grpSp>
        <p:nvGrpSpPr>
          <p:cNvPr name="Group 25" id="25"/>
          <p:cNvGrpSpPr/>
          <p:nvPr/>
        </p:nvGrpSpPr>
        <p:grpSpPr>
          <a:xfrm rot="0">
            <a:off x="5187662" y="10029679"/>
            <a:ext cx="4318865" cy="4498818"/>
            <a:chOff x="0" y="0"/>
            <a:chExt cx="5758487" cy="5998424"/>
          </a:xfrm>
        </p:grpSpPr>
        <p:sp>
          <p:nvSpPr>
            <p:cNvPr name="Freeform 26" id="26"/>
            <p:cNvSpPr/>
            <p:nvPr/>
          </p:nvSpPr>
          <p:spPr>
            <a:xfrm flipH="false" flipV="false" rot="0">
              <a:off x="2879244" y="0"/>
              <a:ext cx="2879244" cy="2159433"/>
            </a:xfrm>
            <a:custGeom>
              <a:avLst/>
              <a:gdLst/>
              <a:ahLst/>
              <a:cxnLst/>
              <a:rect r="r" b="b" t="t" l="l"/>
              <a:pathLst>
                <a:path h="2159433" w="2879244">
                  <a:moveTo>
                    <a:pt x="0" y="0"/>
                  </a:moveTo>
                  <a:lnTo>
                    <a:pt x="2879243" y="0"/>
                  </a:lnTo>
                  <a:lnTo>
                    <a:pt x="2879243" y="2159433"/>
                  </a:lnTo>
                  <a:lnTo>
                    <a:pt x="0" y="2159433"/>
                  </a:lnTo>
                  <a:lnTo>
                    <a:pt x="0" y="0"/>
                  </a:lnTo>
                  <a:close/>
                </a:path>
              </a:pathLst>
            </a:custGeom>
            <a:blipFill>
              <a:blip r:embed="rId10"/>
              <a:stretch>
                <a:fillRect l="0" t="0" r="0" b="0"/>
              </a:stretch>
            </a:blipFill>
          </p:spPr>
        </p:sp>
        <p:sp>
          <p:nvSpPr>
            <p:cNvPr name="Freeform 27" id="27"/>
            <p:cNvSpPr/>
            <p:nvPr/>
          </p:nvSpPr>
          <p:spPr>
            <a:xfrm flipH="false" flipV="false" rot="0">
              <a:off x="0" y="0"/>
              <a:ext cx="2879244" cy="2159433"/>
            </a:xfrm>
            <a:custGeom>
              <a:avLst/>
              <a:gdLst/>
              <a:ahLst/>
              <a:cxnLst/>
              <a:rect r="r" b="b" t="t" l="l"/>
              <a:pathLst>
                <a:path h="2159433" w="2879244">
                  <a:moveTo>
                    <a:pt x="0" y="0"/>
                  </a:moveTo>
                  <a:lnTo>
                    <a:pt x="2879244" y="0"/>
                  </a:lnTo>
                  <a:lnTo>
                    <a:pt x="2879244" y="2159433"/>
                  </a:lnTo>
                  <a:lnTo>
                    <a:pt x="0" y="2159433"/>
                  </a:lnTo>
                  <a:lnTo>
                    <a:pt x="0" y="0"/>
                  </a:lnTo>
                  <a:close/>
                </a:path>
              </a:pathLst>
            </a:custGeom>
            <a:blipFill>
              <a:blip r:embed="rId9"/>
              <a:stretch>
                <a:fillRect l="0" t="0" r="0" b="0"/>
              </a:stretch>
            </a:blipFill>
          </p:spPr>
        </p:sp>
        <p:sp>
          <p:nvSpPr>
            <p:cNvPr name="Freeform 28" id="28"/>
            <p:cNvSpPr/>
            <p:nvPr/>
          </p:nvSpPr>
          <p:spPr>
            <a:xfrm flipH="false" flipV="false" rot="0">
              <a:off x="2879244" y="2159433"/>
              <a:ext cx="2879244" cy="3838992"/>
            </a:xfrm>
            <a:custGeom>
              <a:avLst/>
              <a:gdLst/>
              <a:ahLst/>
              <a:cxnLst/>
              <a:rect r="r" b="b" t="t" l="l"/>
              <a:pathLst>
                <a:path h="3838992" w="2879244">
                  <a:moveTo>
                    <a:pt x="0" y="0"/>
                  </a:moveTo>
                  <a:lnTo>
                    <a:pt x="2879243" y="0"/>
                  </a:lnTo>
                  <a:lnTo>
                    <a:pt x="2879243" y="3838991"/>
                  </a:lnTo>
                  <a:lnTo>
                    <a:pt x="0" y="3838991"/>
                  </a:lnTo>
                  <a:lnTo>
                    <a:pt x="0" y="0"/>
                  </a:lnTo>
                  <a:close/>
                </a:path>
              </a:pathLst>
            </a:custGeom>
            <a:blipFill>
              <a:blip r:embed="rId11"/>
              <a:stretch>
                <a:fillRect l="0" t="0" r="0" b="0"/>
              </a:stretch>
            </a:blipFill>
          </p:spPr>
        </p:sp>
        <p:sp>
          <p:nvSpPr>
            <p:cNvPr name="Freeform 29" id="29"/>
            <p:cNvSpPr/>
            <p:nvPr/>
          </p:nvSpPr>
          <p:spPr>
            <a:xfrm flipH="false" flipV="false" rot="0">
              <a:off x="0" y="2159433"/>
              <a:ext cx="2879244" cy="3838992"/>
            </a:xfrm>
            <a:custGeom>
              <a:avLst/>
              <a:gdLst/>
              <a:ahLst/>
              <a:cxnLst/>
              <a:rect r="r" b="b" t="t" l="l"/>
              <a:pathLst>
                <a:path h="3838992" w="2879244">
                  <a:moveTo>
                    <a:pt x="0" y="0"/>
                  </a:moveTo>
                  <a:lnTo>
                    <a:pt x="2879244" y="0"/>
                  </a:lnTo>
                  <a:lnTo>
                    <a:pt x="2879244" y="3838991"/>
                  </a:lnTo>
                  <a:lnTo>
                    <a:pt x="0" y="3838991"/>
                  </a:lnTo>
                  <a:lnTo>
                    <a:pt x="0" y="0"/>
                  </a:lnTo>
                  <a:close/>
                </a:path>
              </a:pathLst>
            </a:custGeom>
            <a:blipFill>
              <a:blip r:embed="rId12"/>
              <a:stretch>
                <a:fillRect l="0" t="0" r="0" b="0"/>
              </a:stretch>
            </a:blipFill>
          </p:spPr>
        </p:sp>
      </p:grpSp>
      <p:sp>
        <p:nvSpPr>
          <p:cNvPr name="Freeform 30" id="30"/>
          <p:cNvSpPr/>
          <p:nvPr/>
        </p:nvSpPr>
        <p:spPr>
          <a:xfrm flipH="false" flipV="false" rot="0">
            <a:off x="15400116" y="11868747"/>
            <a:ext cx="3613301" cy="2538110"/>
          </a:xfrm>
          <a:custGeom>
            <a:avLst/>
            <a:gdLst/>
            <a:ahLst/>
            <a:cxnLst/>
            <a:rect r="r" b="b" t="t" l="l"/>
            <a:pathLst>
              <a:path h="2538110" w="3613301">
                <a:moveTo>
                  <a:pt x="0" y="0"/>
                </a:moveTo>
                <a:lnTo>
                  <a:pt x="3613301" y="0"/>
                </a:lnTo>
                <a:lnTo>
                  <a:pt x="3613301" y="2538109"/>
                </a:lnTo>
                <a:lnTo>
                  <a:pt x="0" y="2538109"/>
                </a:lnTo>
                <a:lnTo>
                  <a:pt x="0" y="0"/>
                </a:lnTo>
                <a:close/>
              </a:path>
            </a:pathLst>
          </a:custGeom>
          <a:blipFill>
            <a:blip r:embed="rId13"/>
            <a:stretch>
              <a:fillRect l="0" t="-23629" r="-104556" b="-17062"/>
            </a:stretch>
          </a:blipFill>
        </p:spPr>
      </p:sp>
      <p:grpSp>
        <p:nvGrpSpPr>
          <p:cNvPr name="Group 31" id="31"/>
          <p:cNvGrpSpPr/>
          <p:nvPr/>
        </p:nvGrpSpPr>
        <p:grpSpPr>
          <a:xfrm rot="0">
            <a:off x="10159115" y="13617480"/>
            <a:ext cx="4453560" cy="722829"/>
            <a:chOff x="0" y="0"/>
            <a:chExt cx="1811027" cy="293937"/>
          </a:xfrm>
        </p:grpSpPr>
        <p:sp>
          <p:nvSpPr>
            <p:cNvPr name="Freeform 32" id="32"/>
            <p:cNvSpPr/>
            <p:nvPr/>
          </p:nvSpPr>
          <p:spPr>
            <a:xfrm flipH="false" flipV="false" rot="0">
              <a:off x="0" y="0"/>
              <a:ext cx="1811027" cy="293937"/>
            </a:xfrm>
            <a:custGeom>
              <a:avLst/>
              <a:gdLst/>
              <a:ahLst/>
              <a:cxnLst/>
              <a:rect r="r" b="b" t="t" l="l"/>
              <a:pathLst>
                <a:path h="293937" w="1811027">
                  <a:moveTo>
                    <a:pt x="1811027" y="39982"/>
                  </a:moveTo>
                  <a:lnTo>
                    <a:pt x="1811027" y="253954"/>
                  </a:lnTo>
                  <a:cubicBezTo>
                    <a:pt x="1811027" y="264558"/>
                    <a:pt x="1806814" y="274728"/>
                    <a:pt x="1799316" y="282226"/>
                  </a:cubicBezTo>
                  <a:cubicBezTo>
                    <a:pt x="1791818" y="289724"/>
                    <a:pt x="1781648" y="293937"/>
                    <a:pt x="1771044" y="293937"/>
                  </a:cubicBezTo>
                  <a:lnTo>
                    <a:pt x="39982" y="293937"/>
                  </a:lnTo>
                  <a:cubicBezTo>
                    <a:pt x="17901" y="293937"/>
                    <a:pt x="0" y="276036"/>
                    <a:pt x="0" y="253954"/>
                  </a:cubicBezTo>
                  <a:lnTo>
                    <a:pt x="0" y="39982"/>
                  </a:lnTo>
                  <a:cubicBezTo>
                    <a:pt x="0" y="29378"/>
                    <a:pt x="4212" y="19209"/>
                    <a:pt x="11711" y="11711"/>
                  </a:cubicBezTo>
                  <a:cubicBezTo>
                    <a:pt x="19209" y="4212"/>
                    <a:pt x="29378" y="0"/>
                    <a:pt x="39982" y="0"/>
                  </a:cubicBezTo>
                  <a:lnTo>
                    <a:pt x="1771044" y="0"/>
                  </a:lnTo>
                  <a:cubicBezTo>
                    <a:pt x="1793126" y="0"/>
                    <a:pt x="1811027" y="17901"/>
                    <a:pt x="1811027" y="39982"/>
                  </a:cubicBezTo>
                  <a:close/>
                </a:path>
              </a:pathLst>
            </a:custGeom>
            <a:solidFill>
              <a:srgbClr val="F0F6FA"/>
            </a:solidFill>
            <a:ln cap="rnd">
              <a:noFill/>
              <a:prstDash val="solid"/>
              <a:round/>
            </a:ln>
          </p:spPr>
        </p:sp>
        <p:sp>
          <p:nvSpPr>
            <p:cNvPr name="TextBox 33" id="33"/>
            <p:cNvSpPr txBox="true"/>
            <p:nvPr/>
          </p:nvSpPr>
          <p:spPr>
            <a:xfrm>
              <a:off x="0" y="-9525"/>
              <a:ext cx="1811027" cy="303462"/>
            </a:xfrm>
            <a:prstGeom prst="rect">
              <a:avLst/>
            </a:prstGeom>
          </p:spPr>
          <p:txBody>
            <a:bodyPr anchor="ctr" rtlCol="false" tIns="39259" lIns="39259" bIns="39259" rIns="39259"/>
            <a:lstStyle/>
            <a:p>
              <a:pPr algn="ctr">
                <a:lnSpc>
                  <a:spcPts val="4140"/>
                </a:lnSpc>
              </a:pPr>
            </a:p>
          </p:txBody>
        </p:sp>
      </p:grpSp>
      <p:sp>
        <p:nvSpPr>
          <p:cNvPr name="TextBox 34" id="34"/>
          <p:cNvSpPr txBox="true"/>
          <p:nvPr/>
        </p:nvSpPr>
        <p:spPr>
          <a:xfrm rot="0">
            <a:off x="10159115" y="11556770"/>
            <a:ext cx="5497914" cy="2295525"/>
          </a:xfrm>
          <a:prstGeom prst="rect">
            <a:avLst/>
          </a:prstGeom>
        </p:spPr>
        <p:txBody>
          <a:bodyPr anchor="t" rtlCol="false" tIns="0" lIns="0" bIns="0" rIns="0">
            <a:spAutoFit/>
          </a:bodyPr>
          <a:lstStyle/>
          <a:p>
            <a:pPr algn="l">
              <a:lnSpc>
                <a:spcPts val="2280"/>
              </a:lnSpc>
            </a:pPr>
            <a:r>
              <a:rPr lang="en-US" sz="1900" spc="-38" b="true">
                <a:solidFill>
                  <a:srgbClr val="404040"/>
                </a:solidFill>
                <a:latin typeface="Archivo Narrow Bold"/>
                <a:ea typeface="Archivo Narrow Bold"/>
                <a:cs typeface="Archivo Narrow Bold"/>
                <a:sym typeface="Archivo Narrow Bold"/>
              </a:rPr>
              <a:t>Problem: </a:t>
            </a:r>
            <a:r>
              <a:rPr lang="en-US" sz="1900" spc="-38">
                <a:solidFill>
                  <a:srgbClr val="404040"/>
                </a:solidFill>
                <a:latin typeface="Archivo Narrow"/>
                <a:ea typeface="Archivo Narrow"/>
                <a:cs typeface="Archivo Narrow"/>
                <a:sym typeface="Archivo Narrow"/>
              </a:rPr>
              <a:t>Simplified model does not provide a path for liquid to be removed, and liquid inventory kept increasing.</a:t>
            </a:r>
          </a:p>
          <a:p>
            <a:pPr algn="l">
              <a:lnSpc>
                <a:spcPts val="2280"/>
              </a:lnSpc>
            </a:pPr>
            <a:r>
              <a:rPr lang="en-US" sz="1900" spc="-38" b="true">
                <a:solidFill>
                  <a:srgbClr val="404040"/>
                </a:solidFill>
                <a:latin typeface="Archivo Narrow Bold"/>
                <a:ea typeface="Archivo Narrow Bold"/>
                <a:cs typeface="Archivo Narrow Bold"/>
                <a:sym typeface="Archivo Narrow Bold"/>
              </a:rPr>
              <a:t>Assumption:</a:t>
            </a:r>
            <a:r>
              <a:rPr lang="en-US" sz="1900" spc="-38">
                <a:solidFill>
                  <a:srgbClr val="404040"/>
                </a:solidFill>
                <a:latin typeface="Archivo Narrow"/>
                <a:ea typeface="Archivo Narrow"/>
                <a:cs typeface="Archivo Narrow"/>
                <a:sym typeface="Archivo Narrow"/>
              </a:rPr>
              <a:t> Full mass and momentum transfer to a one-way brine pool.</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Remove liquid only.</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Remove</a:t>
            </a:r>
            <a:r>
              <a:rPr lang="en-US" sz="1900" spc="-38">
                <a:solidFill>
                  <a:srgbClr val="404040"/>
                </a:solidFill>
                <a:latin typeface="Archivo Narrow"/>
                <a:ea typeface="Archivo Narrow"/>
                <a:cs typeface="Archivo Narrow"/>
                <a:sym typeface="Archivo Narrow"/>
              </a:rPr>
              <a:t> its mass and momentum together.</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Ramp feed and removal together.</a:t>
            </a:r>
          </a:p>
          <a:p>
            <a:pPr algn="l">
              <a:lnSpc>
                <a:spcPts val="2280"/>
              </a:lnSpc>
            </a:pPr>
          </a:p>
        </p:txBody>
      </p:sp>
      <p:grpSp>
        <p:nvGrpSpPr>
          <p:cNvPr name="Group 35" id="35"/>
          <p:cNvGrpSpPr/>
          <p:nvPr/>
        </p:nvGrpSpPr>
        <p:grpSpPr>
          <a:xfrm rot="0">
            <a:off x="10546440" y="13729216"/>
            <a:ext cx="3850062" cy="469619"/>
            <a:chOff x="0" y="0"/>
            <a:chExt cx="5133416" cy="626159"/>
          </a:xfrm>
        </p:grpSpPr>
        <p:sp>
          <p:nvSpPr>
            <p:cNvPr name="TextBox 36" id="36"/>
            <p:cNvSpPr txBox="true"/>
            <p:nvPr/>
          </p:nvSpPr>
          <p:spPr>
            <a:xfrm rot="0">
              <a:off x="0" y="57190"/>
              <a:ext cx="1528013" cy="377825"/>
            </a:xfrm>
            <a:prstGeom prst="rect">
              <a:avLst/>
            </a:prstGeom>
          </p:spPr>
          <p:txBody>
            <a:bodyPr anchor="t" rtlCol="false" tIns="0" lIns="0" bIns="0" rIns="0">
              <a:spAutoFit/>
            </a:bodyPr>
            <a:lstStyle/>
            <a:p>
              <a:pPr algn="l">
                <a:lnSpc>
                  <a:spcPts val="2225"/>
                </a:lnSpc>
              </a:pPr>
              <a:r>
                <a:rPr lang="en-US" sz="1854" spc="-37" b="true">
                  <a:solidFill>
                    <a:srgbClr val="404040"/>
                  </a:solidFill>
                  <a:latin typeface="Archivo Narrow Bold"/>
                  <a:ea typeface="Archivo Narrow Bold"/>
                  <a:cs typeface="Archivo Narrow Bold"/>
                  <a:sym typeface="Archivo Narrow Bold"/>
                </a:rPr>
                <a:t>1.33 × 10</a:t>
              </a:r>
              <a:r>
                <a:rPr lang="en-US" sz="1854" spc="-37" b="true">
                  <a:solidFill>
                    <a:srgbClr val="FF3131"/>
                  </a:solidFill>
                  <a:latin typeface="Archivo Narrow Bold"/>
                  <a:ea typeface="Archivo Narrow Bold"/>
                  <a:cs typeface="Archivo Narrow Bold"/>
                  <a:sym typeface="Archivo Narrow Bold"/>
                </a:rPr>
                <a:t>−2</a:t>
              </a:r>
            </a:p>
          </p:txBody>
        </p:sp>
        <p:sp>
          <p:nvSpPr>
            <p:cNvPr name="TextBox 37" id="37"/>
            <p:cNvSpPr txBox="true"/>
            <p:nvPr/>
          </p:nvSpPr>
          <p:spPr>
            <a:xfrm rot="0">
              <a:off x="215248" y="430153"/>
              <a:ext cx="1528013" cy="196006"/>
            </a:xfrm>
            <a:prstGeom prst="rect">
              <a:avLst/>
            </a:prstGeom>
          </p:spPr>
          <p:txBody>
            <a:bodyPr anchor="t" rtlCol="false" tIns="0" lIns="0" bIns="0" rIns="0">
              <a:spAutoFit/>
            </a:bodyPr>
            <a:lstStyle/>
            <a:p>
              <a:pPr algn="l">
                <a:lnSpc>
                  <a:spcPts val="1112"/>
                </a:lnSpc>
              </a:pPr>
              <a:r>
                <a:rPr lang="en-US" sz="927" spc="-18">
                  <a:solidFill>
                    <a:srgbClr val="404040"/>
                  </a:solidFill>
                  <a:latin typeface="Archivo Narrow"/>
                  <a:ea typeface="Archivo Narrow"/>
                  <a:cs typeface="Archivo Narrow"/>
                  <a:sym typeface="Archivo Narrow"/>
                </a:rPr>
                <a:t>Absorber off</a:t>
              </a:r>
            </a:p>
          </p:txBody>
        </p:sp>
        <p:sp>
          <p:nvSpPr>
            <p:cNvPr name="TextBox 38" id="38"/>
            <p:cNvSpPr txBox="true"/>
            <p:nvPr/>
          </p:nvSpPr>
          <p:spPr>
            <a:xfrm rot="0">
              <a:off x="3605404" y="392337"/>
              <a:ext cx="1528013" cy="196006"/>
            </a:xfrm>
            <a:prstGeom prst="rect">
              <a:avLst/>
            </a:prstGeom>
          </p:spPr>
          <p:txBody>
            <a:bodyPr anchor="t" rtlCol="false" tIns="0" lIns="0" bIns="0" rIns="0">
              <a:spAutoFit/>
            </a:bodyPr>
            <a:lstStyle/>
            <a:p>
              <a:pPr algn="l">
                <a:lnSpc>
                  <a:spcPts val="1112"/>
                </a:lnSpc>
              </a:pPr>
              <a:r>
                <a:rPr lang="en-US" sz="927" spc="-18">
                  <a:solidFill>
                    <a:srgbClr val="404040"/>
                  </a:solidFill>
                  <a:latin typeface="Archivo Narrow"/>
                  <a:ea typeface="Archivo Narrow"/>
                  <a:cs typeface="Archivo Narrow"/>
                  <a:sym typeface="Archivo Narrow"/>
                </a:rPr>
                <a:t>Absorber on</a:t>
              </a:r>
            </a:p>
          </p:txBody>
        </p:sp>
        <p:sp>
          <p:nvSpPr>
            <p:cNvPr name="TextBox 39" id="39"/>
            <p:cNvSpPr txBox="true"/>
            <p:nvPr/>
          </p:nvSpPr>
          <p:spPr>
            <a:xfrm rot="0">
              <a:off x="3425199" y="57190"/>
              <a:ext cx="1528013" cy="377825"/>
            </a:xfrm>
            <a:prstGeom prst="rect">
              <a:avLst/>
            </a:prstGeom>
          </p:spPr>
          <p:txBody>
            <a:bodyPr anchor="t" rtlCol="false" tIns="0" lIns="0" bIns="0" rIns="0">
              <a:spAutoFit/>
            </a:bodyPr>
            <a:lstStyle/>
            <a:p>
              <a:pPr algn="l">
                <a:lnSpc>
                  <a:spcPts val="2225"/>
                </a:lnSpc>
              </a:pPr>
              <a:r>
                <a:rPr lang="en-US" sz="1854" spc="-37" b="true">
                  <a:solidFill>
                    <a:srgbClr val="404040"/>
                  </a:solidFill>
                  <a:latin typeface="Archivo Narrow Bold"/>
                  <a:ea typeface="Archivo Narrow Bold"/>
                  <a:cs typeface="Archivo Narrow Bold"/>
                  <a:sym typeface="Archivo Narrow Bold"/>
                </a:rPr>
                <a:t>2.27 × 10</a:t>
              </a:r>
              <a:r>
                <a:rPr lang="en-US" sz="1854" spc="-37" b="true">
                  <a:solidFill>
                    <a:srgbClr val="FF3131"/>
                  </a:solidFill>
                  <a:latin typeface="Archivo Narrow Bold"/>
                  <a:ea typeface="Archivo Narrow Bold"/>
                  <a:cs typeface="Archivo Narrow Bold"/>
                  <a:sym typeface="Archivo Narrow Bold"/>
                </a:rPr>
                <a:t>−3</a:t>
              </a:r>
            </a:p>
          </p:txBody>
        </p:sp>
        <p:sp>
          <p:nvSpPr>
            <p:cNvPr name="TextBox 40" id="40"/>
            <p:cNvSpPr txBox="true"/>
            <p:nvPr/>
          </p:nvSpPr>
          <p:spPr>
            <a:xfrm rot="0">
              <a:off x="1620160" y="-9525"/>
              <a:ext cx="1528013" cy="196006"/>
            </a:xfrm>
            <a:prstGeom prst="rect">
              <a:avLst/>
            </a:prstGeom>
          </p:spPr>
          <p:txBody>
            <a:bodyPr anchor="t" rtlCol="false" tIns="0" lIns="0" bIns="0" rIns="0">
              <a:spAutoFit/>
            </a:bodyPr>
            <a:lstStyle/>
            <a:p>
              <a:pPr algn="l">
                <a:lnSpc>
                  <a:spcPts val="1112"/>
                </a:lnSpc>
              </a:pPr>
              <a:r>
                <a:rPr lang="en-US" sz="927" spc="-18">
                  <a:solidFill>
                    <a:srgbClr val="404040"/>
                  </a:solidFill>
                  <a:latin typeface="Archivo Narrow"/>
                  <a:ea typeface="Archivo Narrow"/>
                  <a:cs typeface="Archivo Narrow"/>
                  <a:sym typeface="Archivo Narrow"/>
                </a:rPr>
                <a:t>Minimum continuity value</a:t>
              </a:r>
            </a:p>
          </p:txBody>
        </p:sp>
      </p:grpSp>
      <p:sp>
        <p:nvSpPr>
          <p:cNvPr name="AutoShape 41" id="41"/>
          <p:cNvSpPr/>
          <p:nvPr/>
        </p:nvSpPr>
        <p:spPr>
          <a:xfrm>
            <a:off x="11692952" y="13964025"/>
            <a:ext cx="1215120" cy="0"/>
          </a:xfrm>
          <a:prstGeom prst="line">
            <a:avLst/>
          </a:prstGeom>
          <a:ln cap="flat" w="28575">
            <a:solidFill>
              <a:srgbClr val="000000"/>
            </a:solidFill>
            <a:prstDash val="solid"/>
            <a:headEnd type="none" len="sm" w="sm"/>
            <a:tailEnd type="triangle" len="med" w="lg"/>
          </a:ln>
        </p:spPr>
      </p:sp>
      <p:sp>
        <p:nvSpPr>
          <p:cNvPr name="Freeform 42" id="42"/>
          <p:cNvSpPr/>
          <p:nvPr/>
        </p:nvSpPr>
        <p:spPr>
          <a:xfrm flipH="false" flipV="false" rot="0">
            <a:off x="24386572" y="5367813"/>
            <a:ext cx="4026252" cy="2252185"/>
          </a:xfrm>
          <a:custGeom>
            <a:avLst/>
            <a:gdLst/>
            <a:ahLst/>
            <a:cxnLst/>
            <a:rect r="r" b="b" t="t" l="l"/>
            <a:pathLst>
              <a:path h="2252185" w="4026252">
                <a:moveTo>
                  <a:pt x="0" y="0"/>
                </a:moveTo>
                <a:lnTo>
                  <a:pt x="4026251" y="0"/>
                </a:lnTo>
                <a:lnTo>
                  <a:pt x="4026251" y="2252184"/>
                </a:lnTo>
                <a:lnTo>
                  <a:pt x="0" y="2252184"/>
                </a:lnTo>
                <a:lnTo>
                  <a:pt x="0" y="0"/>
                </a:lnTo>
                <a:close/>
              </a:path>
            </a:pathLst>
          </a:custGeom>
          <a:blipFill>
            <a:blip r:embed="rId14"/>
            <a:stretch>
              <a:fillRect l="0" t="0" r="0" b="0"/>
            </a:stretch>
          </a:blipFill>
        </p:spPr>
      </p:sp>
      <p:sp>
        <p:nvSpPr>
          <p:cNvPr name="Freeform 43" id="43"/>
          <p:cNvSpPr/>
          <p:nvPr/>
        </p:nvSpPr>
        <p:spPr>
          <a:xfrm flipH="false" flipV="false" rot="0">
            <a:off x="20189464" y="5367813"/>
            <a:ext cx="3884551" cy="2252185"/>
          </a:xfrm>
          <a:custGeom>
            <a:avLst/>
            <a:gdLst/>
            <a:ahLst/>
            <a:cxnLst/>
            <a:rect r="r" b="b" t="t" l="l"/>
            <a:pathLst>
              <a:path h="2252185" w="3884551">
                <a:moveTo>
                  <a:pt x="0" y="0"/>
                </a:moveTo>
                <a:lnTo>
                  <a:pt x="3884551" y="0"/>
                </a:lnTo>
                <a:lnTo>
                  <a:pt x="3884551" y="2252184"/>
                </a:lnTo>
                <a:lnTo>
                  <a:pt x="0" y="2252184"/>
                </a:lnTo>
                <a:lnTo>
                  <a:pt x="0" y="0"/>
                </a:lnTo>
                <a:close/>
              </a:path>
            </a:pathLst>
          </a:custGeom>
          <a:blipFill>
            <a:blip r:embed="rId15"/>
            <a:stretch>
              <a:fillRect l="0" t="0" r="0" b="0"/>
            </a:stretch>
          </a:blipFill>
        </p:spPr>
      </p:sp>
      <p:sp>
        <p:nvSpPr>
          <p:cNvPr name="Freeform 44" id="44"/>
          <p:cNvSpPr/>
          <p:nvPr/>
        </p:nvSpPr>
        <p:spPr>
          <a:xfrm flipH="false" flipV="false" rot="0">
            <a:off x="15603740" y="11703556"/>
            <a:ext cx="3456443" cy="165191"/>
          </a:xfrm>
          <a:custGeom>
            <a:avLst/>
            <a:gdLst/>
            <a:ahLst/>
            <a:cxnLst/>
            <a:rect r="r" b="b" t="t" l="l"/>
            <a:pathLst>
              <a:path h="165191" w="3456443">
                <a:moveTo>
                  <a:pt x="0" y="0"/>
                </a:moveTo>
                <a:lnTo>
                  <a:pt x="3456442" y="0"/>
                </a:lnTo>
                <a:lnTo>
                  <a:pt x="3456442" y="165191"/>
                </a:lnTo>
                <a:lnTo>
                  <a:pt x="0" y="165191"/>
                </a:lnTo>
                <a:lnTo>
                  <a:pt x="0" y="0"/>
                </a:lnTo>
                <a:close/>
              </a:path>
            </a:pathLst>
          </a:custGeom>
          <a:blipFill>
            <a:blip r:embed="rId13"/>
            <a:stretch>
              <a:fillRect l="-57266" t="-162716" r="-56573" b="-1898963"/>
            </a:stretch>
          </a:blipFill>
        </p:spPr>
      </p:sp>
      <p:sp>
        <p:nvSpPr>
          <p:cNvPr name="Freeform 45" id="45"/>
          <p:cNvSpPr/>
          <p:nvPr/>
        </p:nvSpPr>
        <p:spPr>
          <a:xfrm flipH="false" flipV="false" rot="0">
            <a:off x="19088757" y="8453435"/>
            <a:ext cx="5713324" cy="2322311"/>
          </a:xfrm>
          <a:custGeom>
            <a:avLst/>
            <a:gdLst/>
            <a:ahLst/>
            <a:cxnLst/>
            <a:rect r="r" b="b" t="t" l="l"/>
            <a:pathLst>
              <a:path h="2322311" w="5713324">
                <a:moveTo>
                  <a:pt x="0" y="0"/>
                </a:moveTo>
                <a:lnTo>
                  <a:pt x="5713325" y="0"/>
                </a:lnTo>
                <a:lnTo>
                  <a:pt x="5713325" y="2322310"/>
                </a:lnTo>
                <a:lnTo>
                  <a:pt x="0" y="2322310"/>
                </a:lnTo>
                <a:lnTo>
                  <a:pt x="0" y="0"/>
                </a:lnTo>
                <a:close/>
              </a:path>
            </a:pathLst>
          </a:custGeom>
          <a:blipFill>
            <a:blip r:embed="rId16"/>
            <a:stretch>
              <a:fillRect l="0" t="-17645" r="0" b="-13512"/>
            </a:stretch>
          </a:blipFill>
        </p:spPr>
      </p:sp>
      <p:sp>
        <p:nvSpPr>
          <p:cNvPr name="Freeform 46" id="46"/>
          <p:cNvSpPr/>
          <p:nvPr/>
        </p:nvSpPr>
        <p:spPr>
          <a:xfrm flipH="false" flipV="false" rot="-125730">
            <a:off x="16194182" y="15461783"/>
            <a:ext cx="1992254" cy="1992254"/>
          </a:xfrm>
          <a:custGeom>
            <a:avLst/>
            <a:gdLst/>
            <a:ahLst/>
            <a:cxnLst/>
            <a:rect r="r" b="b" t="t" l="l"/>
            <a:pathLst>
              <a:path h="1992254" w="1992254">
                <a:moveTo>
                  <a:pt x="70323" y="0"/>
                </a:moveTo>
                <a:lnTo>
                  <a:pt x="1992254" y="70323"/>
                </a:lnTo>
                <a:lnTo>
                  <a:pt x="1921931" y="1992254"/>
                </a:lnTo>
                <a:lnTo>
                  <a:pt x="0" y="1921931"/>
                </a:lnTo>
                <a:lnTo>
                  <a:pt x="70323" y="0"/>
                </a:lnTo>
                <a:close/>
              </a:path>
            </a:pathLst>
          </a:custGeom>
          <a:blipFill>
            <a:blip r:embed="rId17"/>
            <a:stretch>
              <a:fillRect l="-76879" t="-127911" r="-74619" b="-33991"/>
            </a:stretch>
          </a:blipFill>
        </p:spPr>
      </p:sp>
      <p:sp>
        <p:nvSpPr>
          <p:cNvPr name="Freeform 47" id="47"/>
          <p:cNvSpPr/>
          <p:nvPr/>
        </p:nvSpPr>
        <p:spPr>
          <a:xfrm flipH="false" flipV="false" rot="0">
            <a:off x="16243697" y="18069457"/>
            <a:ext cx="1908221" cy="1908221"/>
          </a:xfrm>
          <a:custGeom>
            <a:avLst/>
            <a:gdLst/>
            <a:ahLst/>
            <a:cxnLst/>
            <a:rect r="r" b="b" t="t" l="l"/>
            <a:pathLst>
              <a:path h="1908221" w="1908221">
                <a:moveTo>
                  <a:pt x="0" y="0"/>
                </a:moveTo>
                <a:lnTo>
                  <a:pt x="1908221" y="0"/>
                </a:lnTo>
                <a:lnTo>
                  <a:pt x="1908221" y="1908221"/>
                </a:lnTo>
                <a:lnTo>
                  <a:pt x="0" y="1908221"/>
                </a:lnTo>
                <a:lnTo>
                  <a:pt x="0" y="0"/>
                </a:lnTo>
                <a:close/>
              </a:path>
            </a:pathLst>
          </a:custGeom>
          <a:blipFill>
            <a:blip r:embed="rId18"/>
            <a:stretch>
              <a:fillRect l="-92629" t="-107783" r="-90124" b="-34949"/>
            </a:stretch>
          </a:blipFill>
        </p:spPr>
      </p:sp>
      <p:sp>
        <p:nvSpPr>
          <p:cNvPr name="AutoShape 48" id="48"/>
          <p:cNvSpPr/>
          <p:nvPr/>
        </p:nvSpPr>
        <p:spPr>
          <a:xfrm>
            <a:off x="1184241" y="9639154"/>
            <a:ext cx="7703098" cy="0"/>
          </a:xfrm>
          <a:prstGeom prst="line">
            <a:avLst/>
          </a:prstGeom>
          <a:ln cap="flat" w="38100">
            <a:solidFill>
              <a:srgbClr val="000000"/>
            </a:solidFill>
            <a:prstDash val="solid"/>
            <a:headEnd type="none" len="sm" w="sm"/>
            <a:tailEnd type="none" len="sm" w="sm"/>
          </a:ln>
        </p:spPr>
      </p:sp>
      <p:sp>
        <p:nvSpPr>
          <p:cNvPr name="AutoShape 49" id="49"/>
          <p:cNvSpPr/>
          <p:nvPr/>
        </p:nvSpPr>
        <p:spPr>
          <a:xfrm flipV="true">
            <a:off x="1143000" y="15278352"/>
            <a:ext cx="11608871" cy="0"/>
          </a:xfrm>
          <a:prstGeom prst="line">
            <a:avLst/>
          </a:prstGeom>
          <a:ln cap="flat" w="38100">
            <a:solidFill>
              <a:srgbClr val="000000"/>
            </a:solidFill>
            <a:prstDash val="solid"/>
            <a:headEnd type="none" len="sm" w="sm"/>
            <a:tailEnd type="none" len="sm" w="sm"/>
          </a:ln>
        </p:spPr>
      </p:sp>
      <p:sp>
        <p:nvSpPr>
          <p:cNvPr name="AutoShape 50" id="50"/>
          <p:cNvSpPr/>
          <p:nvPr/>
        </p:nvSpPr>
        <p:spPr>
          <a:xfrm flipV="true">
            <a:off x="10159115" y="11479147"/>
            <a:ext cx="8854302" cy="0"/>
          </a:xfrm>
          <a:prstGeom prst="line">
            <a:avLst/>
          </a:prstGeom>
          <a:ln cap="flat" w="38100">
            <a:solidFill>
              <a:srgbClr val="000000"/>
            </a:solidFill>
            <a:prstDash val="solid"/>
            <a:headEnd type="none" len="sm" w="sm"/>
            <a:tailEnd type="none" len="sm" w="sm"/>
          </a:ln>
        </p:spPr>
      </p:sp>
      <p:sp>
        <p:nvSpPr>
          <p:cNvPr name="AutoShape 51" id="51"/>
          <p:cNvSpPr/>
          <p:nvPr/>
        </p:nvSpPr>
        <p:spPr>
          <a:xfrm>
            <a:off x="1143000" y="6210529"/>
            <a:ext cx="3625740" cy="0"/>
          </a:xfrm>
          <a:prstGeom prst="line">
            <a:avLst/>
          </a:prstGeom>
          <a:ln cap="flat" w="38100">
            <a:solidFill>
              <a:srgbClr val="000000"/>
            </a:solidFill>
            <a:prstDash val="solid"/>
            <a:headEnd type="none" len="sm" w="sm"/>
            <a:tailEnd type="none" len="sm" w="sm"/>
          </a:ln>
        </p:spPr>
      </p:sp>
      <p:sp>
        <p:nvSpPr>
          <p:cNvPr name="AutoShape 52" id="52"/>
          <p:cNvSpPr/>
          <p:nvPr/>
        </p:nvSpPr>
        <p:spPr>
          <a:xfrm>
            <a:off x="1143000" y="3434993"/>
            <a:ext cx="5618493" cy="0"/>
          </a:xfrm>
          <a:prstGeom prst="line">
            <a:avLst/>
          </a:prstGeom>
          <a:ln cap="flat" w="38100">
            <a:solidFill>
              <a:srgbClr val="000000"/>
            </a:solidFill>
            <a:prstDash val="solid"/>
            <a:headEnd type="none" len="sm" w="sm"/>
            <a:tailEnd type="none" len="sm" w="sm"/>
          </a:ln>
        </p:spPr>
      </p:sp>
      <p:sp>
        <p:nvSpPr>
          <p:cNvPr name="AutoShape 53" id="53"/>
          <p:cNvSpPr/>
          <p:nvPr/>
        </p:nvSpPr>
        <p:spPr>
          <a:xfrm flipV="true">
            <a:off x="19453609" y="3429140"/>
            <a:ext cx="9588637" cy="0"/>
          </a:xfrm>
          <a:prstGeom prst="line">
            <a:avLst/>
          </a:prstGeom>
          <a:ln cap="flat" w="38100">
            <a:solidFill>
              <a:srgbClr val="000000"/>
            </a:solidFill>
            <a:prstDash val="solid"/>
            <a:headEnd type="none" len="sm" w="sm"/>
            <a:tailEnd type="none" len="sm" w="sm"/>
          </a:ln>
        </p:spPr>
      </p:sp>
      <p:sp>
        <p:nvSpPr>
          <p:cNvPr name="AutoShape 54" id="54"/>
          <p:cNvSpPr/>
          <p:nvPr/>
        </p:nvSpPr>
        <p:spPr>
          <a:xfrm>
            <a:off x="19511245" y="8296272"/>
            <a:ext cx="9620651" cy="14288"/>
          </a:xfrm>
          <a:prstGeom prst="line">
            <a:avLst/>
          </a:prstGeom>
          <a:ln cap="flat" w="38100">
            <a:solidFill>
              <a:srgbClr val="000000"/>
            </a:solidFill>
            <a:prstDash val="solid"/>
            <a:headEnd type="none" len="sm" w="sm"/>
            <a:tailEnd type="none" len="sm" w="sm"/>
          </a:ln>
        </p:spPr>
      </p:sp>
      <p:sp>
        <p:nvSpPr>
          <p:cNvPr name="AutoShape 55" id="55"/>
          <p:cNvSpPr/>
          <p:nvPr/>
        </p:nvSpPr>
        <p:spPr>
          <a:xfrm>
            <a:off x="25059071" y="9928915"/>
            <a:ext cx="3983175" cy="0"/>
          </a:xfrm>
          <a:prstGeom prst="line">
            <a:avLst/>
          </a:prstGeom>
          <a:ln cap="flat" w="19050">
            <a:solidFill>
              <a:srgbClr val="808080"/>
            </a:solidFill>
            <a:prstDash val="solid"/>
            <a:headEnd type="none" len="sm" w="sm"/>
            <a:tailEnd type="none" len="sm" w="sm"/>
          </a:ln>
        </p:spPr>
      </p:sp>
      <p:sp>
        <p:nvSpPr>
          <p:cNvPr name="Freeform 56" id="56"/>
          <p:cNvSpPr/>
          <p:nvPr/>
        </p:nvSpPr>
        <p:spPr>
          <a:xfrm flipH="false" flipV="false" rot="0">
            <a:off x="20053327" y="12394995"/>
            <a:ext cx="4671042" cy="2011861"/>
          </a:xfrm>
          <a:custGeom>
            <a:avLst/>
            <a:gdLst/>
            <a:ahLst/>
            <a:cxnLst/>
            <a:rect r="r" b="b" t="t" l="l"/>
            <a:pathLst>
              <a:path h="2011861" w="4671042">
                <a:moveTo>
                  <a:pt x="0" y="0"/>
                </a:moveTo>
                <a:lnTo>
                  <a:pt x="4671042" y="0"/>
                </a:lnTo>
                <a:lnTo>
                  <a:pt x="4671042" y="2011861"/>
                </a:lnTo>
                <a:lnTo>
                  <a:pt x="0" y="2011861"/>
                </a:lnTo>
                <a:lnTo>
                  <a:pt x="0" y="0"/>
                </a:lnTo>
                <a:close/>
              </a:path>
            </a:pathLst>
          </a:custGeom>
          <a:blipFill>
            <a:blip r:embed="rId19"/>
            <a:stretch>
              <a:fillRect l="0" t="0" r="0" b="0"/>
            </a:stretch>
          </a:blipFill>
        </p:spPr>
      </p:sp>
      <p:sp>
        <p:nvSpPr>
          <p:cNvPr name="AutoShape 57" id="57"/>
          <p:cNvSpPr/>
          <p:nvPr/>
        </p:nvSpPr>
        <p:spPr>
          <a:xfrm flipV="true">
            <a:off x="24979437" y="9928915"/>
            <a:ext cx="0" cy="913505"/>
          </a:xfrm>
          <a:prstGeom prst="line">
            <a:avLst/>
          </a:prstGeom>
          <a:ln cap="flat" w="19050">
            <a:solidFill>
              <a:srgbClr val="808080"/>
            </a:solidFill>
            <a:prstDash val="solid"/>
            <a:headEnd type="none" len="sm" w="sm"/>
            <a:tailEnd type="none" len="sm" w="sm"/>
          </a:ln>
        </p:spPr>
      </p:sp>
      <p:sp>
        <p:nvSpPr>
          <p:cNvPr name="AutoShape 58" id="58"/>
          <p:cNvSpPr/>
          <p:nvPr/>
        </p:nvSpPr>
        <p:spPr>
          <a:xfrm>
            <a:off x="19511245" y="10842420"/>
            <a:ext cx="5418814" cy="0"/>
          </a:xfrm>
          <a:prstGeom prst="line">
            <a:avLst/>
          </a:prstGeom>
          <a:ln cap="flat" w="19050">
            <a:solidFill>
              <a:srgbClr val="808080"/>
            </a:solidFill>
            <a:prstDash val="solid"/>
            <a:headEnd type="none" len="sm" w="sm"/>
            <a:tailEnd type="none" len="sm" w="sm"/>
          </a:ln>
        </p:spPr>
      </p:sp>
      <p:sp>
        <p:nvSpPr>
          <p:cNvPr name="AutoShape 59" id="59"/>
          <p:cNvSpPr/>
          <p:nvPr/>
        </p:nvSpPr>
        <p:spPr>
          <a:xfrm>
            <a:off x="13384225" y="15259302"/>
            <a:ext cx="15160073" cy="0"/>
          </a:xfrm>
          <a:prstGeom prst="line">
            <a:avLst/>
          </a:prstGeom>
          <a:ln cap="flat" w="38100">
            <a:solidFill>
              <a:srgbClr val="000000"/>
            </a:solidFill>
            <a:prstDash val="solid"/>
            <a:headEnd type="none" len="sm" w="sm"/>
            <a:tailEnd type="none" len="sm" w="sm"/>
          </a:ln>
        </p:spPr>
      </p:sp>
      <p:grpSp>
        <p:nvGrpSpPr>
          <p:cNvPr name="Group 60" id="60"/>
          <p:cNvGrpSpPr/>
          <p:nvPr/>
        </p:nvGrpSpPr>
        <p:grpSpPr>
          <a:xfrm rot="0">
            <a:off x="2327010" y="18267265"/>
            <a:ext cx="1411753" cy="1022492"/>
            <a:chOff x="0" y="0"/>
            <a:chExt cx="1882337" cy="1363323"/>
          </a:xfrm>
        </p:grpSpPr>
        <p:grpSp>
          <p:nvGrpSpPr>
            <p:cNvPr name="Group 61" id="61"/>
            <p:cNvGrpSpPr/>
            <p:nvPr/>
          </p:nvGrpSpPr>
          <p:grpSpPr>
            <a:xfrm rot="0">
              <a:off x="0" y="0"/>
              <a:ext cx="1882337" cy="1275125"/>
              <a:chOff x="0" y="0"/>
              <a:chExt cx="1405359" cy="951846"/>
            </a:xfrm>
          </p:grpSpPr>
          <p:sp>
            <p:nvSpPr>
              <p:cNvPr name="Freeform 62" id="62"/>
              <p:cNvSpPr/>
              <p:nvPr/>
            </p:nvSpPr>
            <p:spPr>
              <a:xfrm flipH="false" flipV="false" rot="0">
                <a:off x="0" y="0"/>
                <a:ext cx="1405359" cy="951846"/>
              </a:xfrm>
              <a:custGeom>
                <a:avLst/>
                <a:gdLst/>
                <a:ahLst/>
                <a:cxnLst/>
                <a:rect r="r" b="b" t="t" l="l"/>
                <a:pathLst>
                  <a:path h="951846" w="1405359">
                    <a:moveTo>
                      <a:pt x="1405359" y="96009"/>
                    </a:moveTo>
                    <a:lnTo>
                      <a:pt x="1405359" y="855838"/>
                    </a:lnTo>
                    <a:cubicBezTo>
                      <a:pt x="1405359" y="881301"/>
                      <a:pt x="1395244" y="905721"/>
                      <a:pt x="1377239" y="923726"/>
                    </a:cubicBezTo>
                    <a:cubicBezTo>
                      <a:pt x="1359234" y="941731"/>
                      <a:pt x="1334814" y="951846"/>
                      <a:pt x="1309351" y="951846"/>
                    </a:cubicBezTo>
                    <a:lnTo>
                      <a:pt x="96009" y="951846"/>
                    </a:lnTo>
                    <a:cubicBezTo>
                      <a:pt x="42984" y="951846"/>
                      <a:pt x="0" y="908862"/>
                      <a:pt x="0" y="855838"/>
                    </a:cubicBezTo>
                    <a:lnTo>
                      <a:pt x="0" y="96009"/>
                    </a:lnTo>
                    <a:cubicBezTo>
                      <a:pt x="0" y="42984"/>
                      <a:pt x="42984" y="0"/>
                      <a:pt x="96009" y="0"/>
                    </a:cubicBezTo>
                    <a:lnTo>
                      <a:pt x="1309351" y="0"/>
                    </a:lnTo>
                    <a:cubicBezTo>
                      <a:pt x="1362375" y="0"/>
                      <a:pt x="1405359" y="42984"/>
                      <a:pt x="1405359" y="96009"/>
                    </a:cubicBezTo>
                    <a:close/>
                  </a:path>
                </a:pathLst>
              </a:custGeom>
              <a:solidFill>
                <a:srgbClr val="FFFFFF"/>
              </a:solidFill>
              <a:ln w="19050" cap="rnd">
                <a:solidFill>
                  <a:srgbClr val="092243"/>
                </a:solidFill>
                <a:prstDash val="solid"/>
                <a:round/>
              </a:ln>
            </p:spPr>
          </p:sp>
          <p:sp>
            <p:nvSpPr>
              <p:cNvPr name="TextBox 63" id="63"/>
              <p:cNvSpPr txBox="true"/>
              <p:nvPr/>
            </p:nvSpPr>
            <p:spPr>
              <a:xfrm>
                <a:off x="0" y="-9525"/>
                <a:ext cx="1405359" cy="961371"/>
              </a:xfrm>
              <a:prstGeom prst="rect">
                <a:avLst/>
              </a:prstGeom>
            </p:spPr>
            <p:txBody>
              <a:bodyPr anchor="ctr" rtlCol="false" tIns="72541" lIns="72541" bIns="72541" rIns="72541"/>
              <a:lstStyle/>
              <a:p>
                <a:pPr algn="ctr">
                  <a:lnSpc>
                    <a:spcPts val="4139"/>
                  </a:lnSpc>
                </a:pPr>
              </a:p>
            </p:txBody>
          </p:sp>
        </p:grpSp>
        <p:sp>
          <p:nvSpPr>
            <p:cNvPr name="Freeform 64" id="64"/>
            <p:cNvSpPr/>
            <p:nvPr/>
          </p:nvSpPr>
          <p:spPr>
            <a:xfrm flipH="false" flipV="false" rot="0">
              <a:off x="1308637" y="271786"/>
              <a:ext cx="241317" cy="241317"/>
            </a:xfrm>
            <a:custGeom>
              <a:avLst/>
              <a:gdLst/>
              <a:ahLst/>
              <a:cxnLst/>
              <a:rect r="r" b="b" t="t" l="l"/>
              <a:pathLst>
                <a:path h="241317" w="241317">
                  <a:moveTo>
                    <a:pt x="0" y="0"/>
                  </a:moveTo>
                  <a:lnTo>
                    <a:pt x="241317" y="0"/>
                  </a:lnTo>
                  <a:lnTo>
                    <a:pt x="241317" y="241317"/>
                  </a:lnTo>
                  <a:lnTo>
                    <a:pt x="0" y="241317"/>
                  </a:lnTo>
                  <a:lnTo>
                    <a:pt x="0" y="0"/>
                  </a:lnTo>
                  <a:close/>
                </a:path>
              </a:pathLst>
            </a:custGeom>
            <a:blipFill>
              <a:blip r:embed="rId20"/>
              <a:stretch>
                <a:fillRect l="0" t="0" r="0" b="0"/>
              </a:stretch>
            </a:blipFill>
            <a:ln cap="sq">
              <a:noFill/>
              <a:prstDash val="solid"/>
              <a:miter/>
            </a:ln>
          </p:spPr>
        </p:sp>
        <p:sp>
          <p:nvSpPr>
            <p:cNvPr name="Freeform 65" id="65"/>
            <p:cNvSpPr/>
            <p:nvPr/>
          </p:nvSpPr>
          <p:spPr>
            <a:xfrm flipH="false" flipV="false" rot="0">
              <a:off x="359709" y="449146"/>
              <a:ext cx="241317" cy="241317"/>
            </a:xfrm>
            <a:custGeom>
              <a:avLst/>
              <a:gdLst/>
              <a:ahLst/>
              <a:cxnLst/>
              <a:rect r="r" b="b" t="t" l="l"/>
              <a:pathLst>
                <a:path h="241317" w="241317">
                  <a:moveTo>
                    <a:pt x="0" y="0"/>
                  </a:moveTo>
                  <a:lnTo>
                    <a:pt x="241317" y="0"/>
                  </a:lnTo>
                  <a:lnTo>
                    <a:pt x="241317" y="241317"/>
                  </a:lnTo>
                  <a:lnTo>
                    <a:pt x="0" y="241317"/>
                  </a:lnTo>
                  <a:lnTo>
                    <a:pt x="0" y="0"/>
                  </a:lnTo>
                  <a:close/>
                </a:path>
              </a:pathLst>
            </a:custGeom>
            <a:blipFill>
              <a:blip r:embed="rId20"/>
              <a:stretch>
                <a:fillRect l="0" t="0" r="0" b="0"/>
              </a:stretch>
            </a:blipFill>
            <a:ln cap="sq">
              <a:noFill/>
              <a:prstDash val="solid"/>
              <a:miter/>
            </a:ln>
          </p:spPr>
        </p:sp>
        <p:sp>
          <p:nvSpPr>
            <p:cNvPr name="Freeform 66" id="66"/>
            <p:cNvSpPr/>
            <p:nvPr/>
          </p:nvSpPr>
          <p:spPr>
            <a:xfrm flipH="false" flipV="false" rot="0">
              <a:off x="601026" y="139742"/>
              <a:ext cx="687564" cy="618807"/>
            </a:xfrm>
            <a:custGeom>
              <a:avLst/>
              <a:gdLst/>
              <a:ahLst/>
              <a:cxnLst/>
              <a:rect r="r" b="b" t="t" l="l"/>
              <a:pathLst>
                <a:path h="618807" w="687564">
                  <a:moveTo>
                    <a:pt x="0" y="0"/>
                  </a:moveTo>
                  <a:lnTo>
                    <a:pt x="687563" y="0"/>
                  </a:lnTo>
                  <a:lnTo>
                    <a:pt x="687563" y="618807"/>
                  </a:lnTo>
                  <a:lnTo>
                    <a:pt x="0" y="61880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TextBox 67" id="67"/>
            <p:cNvSpPr txBox="true"/>
            <p:nvPr/>
          </p:nvSpPr>
          <p:spPr>
            <a:xfrm rot="0">
              <a:off x="299470" y="820174"/>
              <a:ext cx="1582867" cy="543148"/>
            </a:xfrm>
            <a:prstGeom prst="rect">
              <a:avLst/>
            </a:prstGeom>
          </p:spPr>
          <p:txBody>
            <a:bodyPr anchor="t" rtlCol="false" tIns="0" lIns="0" bIns="0" rIns="0">
              <a:spAutoFit/>
            </a:bodyPr>
            <a:lstStyle/>
            <a:p>
              <a:pPr algn="l">
                <a:lnSpc>
                  <a:spcPts val="1596"/>
                </a:lnSpc>
              </a:pPr>
              <a:r>
                <a:rPr lang="en-US" sz="1330" spc="-26">
                  <a:solidFill>
                    <a:srgbClr val="404040"/>
                  </a:solidFill>
                  <a:latin typeface="Archivo Narrow"/>
                  <a:ea typeface="Archivo Narrow"/>
                  <a:cs typeface="Archivo Narrow"/>
                  <a:sym typeface="Archivo Narrow"/>
                </a:rPr>
                <a:t>Knowldege Base</a:t>
              </a:r>
            </a:p>
            <a:p>
              <a:pPr algn="l">
                <a:lnSpc>
                  <a:spcPts val="1596"/>
                </a:lnSpc>
              </a:pPr>
            </a:p>
          </p:txBody>
        </p:sp>
      </p:grpSp>
      <p:pic>
        <p:nvPicPr>
          <p:cNvPr name="Picture 68" id="68"/>
          <p:cNvPicPr>
            <a:picLocks noChangeAspect="true"/>
          </p:cNvPicPr>
          <p:nvPr/>
        </p:nvPicPr>
        <p:blipFill>
          <a:blip r:embed="rId23"/>
          <a:stretch>
            <a:fillRect/>
          </a:stretch>
        </p:blipFill>
        <p:spPr>
          <a:xfrm rot="0">
            <a:off x="1315653" y="16750909"/>
            <a:ext cx="861973" cy="600256"/>
          </a:xfrm>
          <a:prstGeom prst="rect">
            <a:avLst/>
          </a:prstGeom>
        </p:spPr>
      </p:pic>
      <p:sp>
        <p:nvSpPr>
          <p:cNvPr name="Freeform 69" id="69"/>
          <p:cNvSpPr/>
          <p:nvPr/>
        </p:nvSpPr>
        <p:spPr>
          <a:xfrm flipH="false" flipV="false" rot="0">
            <a:off x="3952831" y="16786206"/>
            <a:ext cx="706680" cy="529662"/>
          </a:xfrm>
          <a:custGeom>
            <a:avLst/>
            <a:gdLst/>
            <a:ahLst/>
            <a:cxnLst/>
            <a:rect r="r" b="b" t="t" l="l"/>
            <a:pathLst>
              <a:path h="529662" w="706680">
                <a:moveTo>
                  <a:pt x="0" y="0"/>
                </a:moveTo>
                <a:lnTo>
                  <a:pt x="706679" y="0"/>
                </a:lnTo>
                <a:lnTo>
                  <a:pt x="706679" y="529663"/>
                </a:lnTo>
                <a:lnTo>
                  <a:pt x="0" y="529663"/>
                </a:lnTo>
                <a:lnTo>
                  <a:pt x="0" y="0"/>
                </a:lnTo>
                <a:close/>
              </a:path>
            </a:pathLst>
          </a:custGeom>
          <a:blipFill>
            <a:blip r:embed="rId24">
              <a:extLst>
                <a:ext uri="{96DAC541-7B7A-43D3-8B79-37D633B846F1}">
                  <asvg:svgBlip xmlns:asvg="http://schemas.microsoft.com/office/drawing/2016/SVG/main" r:embed="rId25"/>
                </a:ext>
              </a:extLst>
            </a:blip>
            <a:stretch>
              <a:fillRect l="0" t="0" r="0" b="-51614"/>
            </a:stretch>
          </a:blipFill>
        </p:spPr>
      </p:sp>
      <p:sp>
        <p:nvSpPr>
          <p:cNvPr name="AutoShape 70" id="70"/>
          <p:cNvSpPr/>
          <p:nvPr/>
        </p:nvSpPr>
        <p:spPr>
          <a:xfrm>
            <a:off x="2384897" y="16981351"/>
            <a:ext cx="1436774" cy="0"/>
          </a:xfrm>
          <a:prstGeom prst="line">
            <a:avLst/>
          </a:prstGeom>
          <a:ln cap="flat" w="38100">
            <a:solidFill>
              <a:srgbClr val="000000"/>
            </a:solidFill>
            <a:prstDash val="solid"/>
            <a:headEnd type="none" len="sm" w="sm"/>
            <a:tailEnd type="triangle" len="med" w="lg"/>
          </a:ln>
        </p:spPr>
      </p:sp>
      <p:sp>
        <p:nvSpPr>
          <p:cNvPr name="AutoShape 71" id="71"/>
          <p:cNvSpPr/>
          <p:nvPr/>
        </p:nvSpPr>
        <p:spPr>
          <a:xfrm flipH="true">
            <a:off x="3462878" y="17491059"/>
            <a:ext cx="884902" cy="728009"/>
          </a:xfrm>
          <a:prstGeom prst="line">
            <a:avLst/>
          </a:prstGeom>
          <a:ln cap="flat" w="38100">
            <a:solidFill>
              <a:srgbClr val="000000"/>
            </a:solidFill>
            <a:prstDash val="sysDash"/>
            <a:headEnd type="none" len="sm" w="sm"/>
            <a:tailEnd type="triangle" len="med" w="lg"/>
          </a:ln>
        </p:spPr>
      </p:sp>
      <p:sp>
        <p:nvSpPr>
          <p:cNvPr name="AutoShape 72" id="72"/>
          <p:cNvSpPr/>
          <p:nvPr/>
        </p:nvSpPr>
        <p:spPr>
          <a:xfrm>
            <a:off x="1746640" y="17446208"/>
            <a:ext cx="905546" cy="772860"/>
          </a:xfrm>
          <a:prstGeom prst="line">
            <a:avLst/>
          </a:prstGeom>
          <a:ln cap="flat" w="38100">
            <a:solidFill>
              <a:srgbClr val="000000"/>
            </a:solidFill>
            <a:prstDash val="sysDash"/>
            <a:headEnd type="none" len="sm" w="sm"/>
            <a:tailEnd type="triangle" len="med" w="lg"/>
          </a:ln>
        </p:spPr>
      </p:sp>
      <p:grpSp>
        <p:nvGrpSpPr>
          <p:cNvPr name="Group 73" id="73"/>
          <p:cNvGrpSpPr/>
          <p:nvPr/>
        </p:nvGrpSpPr>
        <p:grpSpPr>
          <a:xfrm rot="0">
            <a:off x="11354690" y="15468852"/>
            <a:ext cx="778519" cy="989058"/>
            <a:chOff x="0" y="0"/>
            <a:chExt cx="316583" cy="402198"/>
          </a:xfrm>
        </p:grpSpPr>
        <p:sp>
          <p:nvSpPr>
            <p:cNvPr name="Freeform 74" id="74"/>
            <p:cNvSpPr/>
            <p:nvPr/>
          </p:nvSpPr>
          <p:spPr>
            <a:xfrm flipH="false" flipV="false" rot="0">
              <a:off x="0" y="0"/>
              <a:ext cx="316583" cy="402198"/>
            </a:xfrm>
            <a:custGeom>
              <a:avLst/>
              <a:gdLst/>
              <a:ahLst/>
              <a:cxnLst/>
              <a:rect r="r" b="b" t="t" l="l"/>
              <a:pathLst>
                <a:path h="402198" w="316583">
                  <a:moveTo>
                    <a:pt x="316583" y="69611"/>
                  </a:moveTo>
                  <a:lnTo>
                    <a:pt x="316583" y="332588"/>
                  </a:lnTo>
                  <a:cubicBezTo>
                    <a:pt x="316583" y="351049"/>
                    <a:pt x="309249" y="368755"/>
                    <a:pt x="296194" y="381810"/>
                  </a:cubicBezTo>
                  <a:cubicBezTo>
                    <a:pt x="283139" y="394864"/>
                    <a:pt x="265434" y="402198"/>
                    <a:pt x="246972" y="402198"/>
                  </a:cubicBezTo>
                  <a:lnTo>
                    <a:pt x="69611" y="402198"/>
                  </a:lnTo>
                  <a:cubicBezTo>
                    <a:pt x="51149" y="402198"/>
                    <a:pt x="33443" y="394864"/>
                    <a:pt x="20389" y="381810"/>
                  </a:cubicBezTo>
                  <a:cubicBezTo>
                    <a:pt x="7334" y="368755"/>
                    <a:pt x="0" y="351049"/>
                    <a:pt x="0" y="332588"/>
                  </a:cubicBezTo>
                  <a:lnTo>
                    <a:pt x="0" y="69611"/>
                  </a:lnTo>
                  <a:cubicBezTo>
                    <a:pt x="0" y="51149"/>
                    <a:pt x="7334" y="33443"/>
                    <a:pt x="20389" y="20389"/>
                  </a:cubicBezTo>
                  <a:cubicBezTo>
                    <a:pt x="33443" y="7334"/>
                    <a:pt x="51149" y="0"/>
                    <a:pt x="69611" y="0"/>
                  </a:cubicBezTo>
                  <a:lnTo>
                    <a:pt x="246972" y="0"/>
                  </a:lnTo>
                  <a:cubicBezTo>
                    <a:pt x="265434" y="0"/>
                    <a:pt x="283139" y="7334"/>
                    <a:pt x="296194" y="20389"/>
                  </a:cubicBezTo>
                  <a:cubicBezTo>
                    <a:pt x="309249" y="33443"/>
                    <a:pt x="316583" y="51149"/>
                    <a:pt x="316583" y="69611"/>
                  </a:cubicBezTo>
                  <a:close/>
                </a:path>
              </a:pathLst>
            </a:custGeom>
            <a:solidFill>
              <a:srgbClr val="F0F6FA"/>
            </a:solidFill>
            <a:ln cap="sq">
              <a:noFill/>
              <a:prstDash val="solid"/>
              <a:miter/>
            </a:ln>
          </p:spPr>
        </p:sp>
        <p:sp>
          <p:nvSpPr>
            <p:cNvPr name="TextBox 75" id="75"/>
            <p:cNvSpPr txBox="true"/>
            <p:nvPr/>
          </p:nvSpPr>
          <p:spPr>
            <a:xfrm>
              <a:off x="0" y="-9525"/>
              <a:ext cx="316583" cy="411723"/>
            </a:xfrm>
            <a:prstGeom prst="rect">
              <a:avLst/>
            </a:prstGeom>
          </p:spPr>
          <p:txBody>
            <a:bodyPr anchor="ctr" rtlCol="false" tIns="39259" lIns="39259" bIns="39259" rIns="39259"/>
            <a:lstStyle/>
            <a:p>
              <a:pPr algn="ctr">
                <a:lnSpc>
                  <a:spcPts val="4140"/>
                </a:lnSpc>
              </a:pPr>
            </a:p>
          </p:txBody>
        </p:sp>
      </p:grpSp>
      <p:grpSp>
        <p:nvGrpSpPr>
          <p:cNvPr name="Group 76" id="76"/>
          <p:cNvGrpSpPr/>
          <p:nvPr/>
        </p:nvGrpSpPr>
        <p:grpSpPr>
          <a:xfrm rot="0">
            <a:off x="5500812" y="15392652"/>
            <a:ext cx="7265083" cy="5501252"/>
            <a:chOff x="0" y="0"/>
            <a:chExt cx="9686777" cy="7335002"/>
          </a:xfrm>
        </p:grpSpPr>
        <p:grpSp>
          <p:nvGrpSpPr>
            <p:cNvPr name="Group 77" id="77"/>
            <p:cNvGrpSpPr/>
            <p:nvPr/>
          </p:nvGrpSpPr>
          <p:grpSpPr>
            <a:xfrm rot="0">
              <a:off x="0" y="58962"/>
              <a:ext cx="9686777" cy="7276040"/>
              <a:chOff x="0" y="0"/>
              <a:chExt cx="2422185" cy="1819061"/>
            </a:xfrm>
          </p:grpSpPr>
          <p:sp>
            <p:nvSpPr>
              <p:cNvPr name="Freeform 78" id="78"/>
              <p:cNvSpPr/>
              <p:nvPr/>
            </p:nvSpPr>
            <p:spPr>
              <a:xfrm flipH="false" flipV="false" rot="0">
                <a:off x="0" y="0"/>
                <a:ext cx="2422185" cy="1819061"/>
              </a:xfrm>
              <a:custGeom>
                <a:avLst/>
                <a:gdLst/>
                <a:ahLst/>
                <a:cxnLst/>
                <a:rect r="r" b="b" t="t" l="l"/>
                <a:pathLst>
                  <a:path h="1819061" w="2422185">
                    <a:moveTo>
                      <a:pt x="2422185" y="26687"/>
                    </a:moveTo>
                    <a:lnTo>
                      <a:pt x="2422185" y="1792374"/>
                    </a:lnTo>
                    <a:cubicBezTo>
                      <a:pt x="2422185" y="1799452"/>
                      <a:pt x="2419373" y="1806240"/>
                      <a:pt x="2414369" y="1811244"/>
                    </a:cubicBezTo>
                    <a:cubicBezTo>
                      <a:pt x="2409364" y="1816249"/>
                      <a:pt x="2402576" y="1819061"/>
                      <a:pt x="2395499" y="1819061"/>
                    </a:cubicBezTo>
                    <a:lnTo>
                      <a:pt x="26687" y="1819061"/>
                    </a:lnTo>
                    <a:cubicBezTo>
                      <a:pt x="11948" y="1819061"/>
                      <a:pt x="0" y="1807113"/>
                      <a:pt x="0" y="1792374"/>
                    </a:cubicBezTo>
                    <a:lnTo>
                      <a:pt x="0" y="26687"/>
                    </a:lnTo>
                    <a:cubicBezTo>
                      <a:pt x="0" y="19609"/>
                      <a:pt x="2812" y="12821"/>
                      <a:pt x="7816" y="7816"/>
                    </a:cubicBezTo>
                    <a:cubicBezTo>
                      <a:pt x="12821" y="2812"/>
                      <a:pt x="19609" y="0"/>
                      <a:pt x="26687" y="0"/>
                    </a:cubicBezTo>
                    <a:lnTo>
                      <a:pt x="2395499" y="0"/>
                    </a:lnTo>
                    <a:cubicBezTo>
                      <a:pt x="2410237" y="0"/>
                      <a:pt x="2422185" y="11948"/>
                      <a:pt x="2422185" y="26687"/>
                    </a:cubicBezTo>
                    <a:close/>
                  </a:path>
                </a:pathLst>
              </a:custGeom>
              <a:ln w="19050" cap="rnd">
                <a:solidFill>
                  <a:srgbClr val="092243"/>
                </a:solidFill>
                <a:prstDash val="solid"/>
                <a:round/>
              </a:ln>
            </p:spPr>
          </p:sp>
          <p:sp>
            <p:nvSpPr>
              <p:cNvPr name="TextBox 79" id="79"/>
              <p:cNvSpPr txBox="true"/>
              <p:nvPr/>
            </p:nvSpPr>
            <p:spPr>
              <a:xfrm>
                <a:off x="0" y="-9525"/>
                <a:ext cx="2422185" cy="1828586"/>
              </a:xfrm>
              <a:prstGeom prst="rect">
                <a:avLst/>
              </a:prstGeom>
            </p:spPr>
            <p:txBody>
              <a:bodyPr anchor="ctr" rtlCol="false" tIns="50800" lIns="50800" bIns="50800" rIns="50800"/>
              <a:lstStyle/>
              <a:p>
                <a:pPr algn="ctr">
                  <a:lnSpc>
                    <a:spcPts val="4139"/>
                  </a:lnSpc>
                </a:pPr>
              </a:p>
            </p:txBody>
          </p:sp>
        </p:grpSp>
        <p:sp>
          <p:nvSpPr>
            <p:cNvPr name="Freeform 80" id="80"/>
            <p:cNvSpPr/>
            <p:nvPr/>
          </p:nvSpPr>
          <p:spPr>
            <a:xfrm flipH="false" flipV="false" rot="0">
              <a:off x="4676608" y="1220893"/>
              <a:ext cx="833680" cy="833680"/>
            </a:xfrm>
            <a:custGeom>
              <a:avLst/>
              <a:gdLst/>
              <a:ahLst/>
              <a:cxnLst/>
              <a:rect r="r" b="b" t="t" l="l"/>
              <a:pathLst>
                <a:path h="833680" w="833680">
                  <a:moveTo>
                    <a:pt x="0" y="0"/>
                  </a:moveTo>
                  <a:lnTo>
                    <a:pt x="833681" y="0"/>
                  </a:lnTo>
                  <a:lnTo>
                    <a:pt x="833681" y="833680"/>
                  </a:lnTo>
                  <a:lnTo>
                    <a:pt x="0" y="833680"/>
                  </a:lnTo>
                  <a:lnTo>
                    <a:pt x="0" y="0"/>
                  </a:lnTo>
                  <a:close/>
                </a:path>
              </a:pathLst>
            </a:custGeom>
            <a:blipFill>
              <a:blip r:embed="rId26"/>
              <a:stretch>
                <a:fillRect l="0" t="0" r="0" b="0"/>
              </a:stretch>
            </a:blipFill>
          </p:spPr>
        </p:sp>
        <p:sp>
          <p:nvSpPr>
            <p:cNvPr name="Freeform 81" id="81"/>
            <p:cNvSpPr/>
            <p:nvPr/>
          </p:nvSpPr>
          <p:spPr>
            <a:xfrm flipH="false" flipV="false" rot="0">
              <a:off x="4517611" y="195054"/>
              <a:ext cx="651555" cy="488346"/>
            </a:xfrm>
            <a:custGeom>
              <a:avLst/>
              <a:gdLst/>
              <a:ahLst/>
              <a:cxnLst/>
              <a:rect r="r" b="b" t="t" l="l"/>
              <a:pathLst>
                <a:path h="488346" w="651555">
                  <a:moveTo>
                    <a:pt x="0" y="0"/>
                  </a:moveTo>
                  <a:lnTo>
                    <a:pt x="651555" y="0"/>
                  </a:lnTo>
                  <a:lnTo>
                    <a:pt x="651555" y="488345"/>
                  </a:lnTo>
                  <a:lnTo>
                    <a:pt x="0" y="488345"/>
                  </a:lnTo>
                  <a:lnTo>
                    <a:pt x="0" y="0"/>
                  </a:lnTo>
                  <a:close/>
                </a:path>
              </a:pathLst>
            </a:custGeom>
            <a:blipFill>
              <a:blip r:embed="rId24">
                <a:extLst>
                  <a:ext uri="{96DAC541-7B7A-43D3-8B79-37D633B846F1}">
                    <asvg:svgBlip xmlns:asvg="http://schemas.microsoft.com/office/drawing/2016/SVG/main" r:embed="rId25"/>
                  </a:ext>
                </a:extLst>
              </a:blip>
              <a:stretch>
                <a:fillRect l="0" t="0" r="0" b="-51614"/>
              </a:stretch>
            </a:blipFill>
          </p:spPr>
        </p:sp>
        <p:sp>
          <p:nvSpPr>
            <p:cNvPr name="AutoShape 82" id="82"/>
            <p:cNvSpPr/>
            <p:nvPr/>
          </p:nvSpPr>
          <p:spPr>
            <a:xfrm>
              <a:off x="2612915" y="1637733"/>
              <a:ext cx="1697606" cy="0"/>
            </a:xfrm>
            <a:prstGeom prst="line">
              <a:avLst/>
            </a:prstGeom>
            <a:ln cap="flat" w="50887">
              <a:solidFill>
                <a:srgbClr val="000000"/>
              </a:solidFill>
              <a:prstDash val="solid"/>
              <a:headEnd type="none" len="sm" w="sm"/>
              <a:tailEnd type="triangle" len="med" w="lg"/>
            </a:ln>
          </p:spPr>
        </p:sp>
        <p:sp>
          <p:nvSpPr>
            <p:cNvPr name="AutoShape 83" id="83"/>
            <p:cNvSpPr/>
            <p:nvPr/>
          </p:nvSpPr>
          <p:spPr>
            <a:xfrm flipH="true">
              <a:off x="2935664" y="5906934"/>
              <a:ext cx="886748" cy="0"/>
            </a:xfrm>
            <a:prstGeom prst="line">
              <a:avLst/>
            </a:prstGeom>
            <a:ln cap="flat" w="50887">
              <a:solidFill>
                <a:srgbClr val="000000"/>
              </a:solidFill>
              <a:prstDash val="solid"/>
              <a:headEnd type="none" len="sm" w="sm"/>
              <a:tailEnd type="triangle" len="med" w="lg"/>
            </a:ln>
          </p:spPr>
        </p:sp>
        <p:sp>
          <p:nvSpPr>
            <p:cNvPr name="Freeform 84" id="84"/>
            <p:cNvSpPr/>
            <p:nvPr/>
          </p:nvSpPr>
          <p:spPr>
            <a:xfrm>
              <a:off x="6068465" y="2832658"/>
              <a:ext cx="786020" cy="827029"/>
            </a:xfrm>
            <a:custGeom>
              <a:avLst/>
              <a:gdLst/>
              <a:ahLst/>
              <a:cxnLst/>
              <a:rect r="r" b="b" t="t" l="l"/>
              <a:pathLst>
                <a:path h="827029" w="786020">
                  <a:moveTo>
                    <a:pt x="0" y="0"/>
                  </a:moveTo>
                  <a:quadBezTo>
                    <a:pt x="141776" y="652291"/>
                    <a:pt x="786020" y="827029"/>
                  </a:quadBezTo>
                </a:path>
              </a:pathLst>
            </a:custGeom>
            <a:ln cap="flat" w="50887">
              <a:solidFill>
                <a:srgbClr val="000000"/>
              </a:solidFill>
              <a:prstDash val="solid"/>
              <a:headEnd type="none" len="sm" w="sm"/>
              <a:tailEnd type="triangle" len="med" w="lg"/>
            </a:ln>
          </p:spPr>
        </p:sp>
        <p:sp>
          <p:nvSpPr>
            <p:cNvPr name="AutoShape 85" id="85"/>
            <p:cNvSpPr/>
            <p:nvPr/>
          </p:nvSpPr>
          <p:spPr>
            <a:xfrm>
              <a:off x="7949083" y="5154354"/>
              <a:ext cx="0" cy="421038"/>
            </a:xfrm>
            <a:prstGeom prst="line">
              <a:avLst/>
            </a:prstGeom>
            <a:ln cap="flat" w="50887">
              <a:solidFill>
                <a:srgbClr val="000000"/>
              </a:solidFill>
              <a:prstDash val="solid"/>
              <a:headEnd type="none" len="sm" w="sm"/>
              <a:tailEnd type="triangle" len="med" w="lg"/>
            </a:ln>
          </p:spPr>
        </p:sp>
        <p:sp>
          <p:nvSpPr>
            <p:cNvPr name="AutoShape 86" id="86"/>
            <p:cNvSpPr/>
            <p:nvPr/>
          </p:nvSpPr>
          <p:spPr>
            <a:xfrm flipH="true" flipV="true">
              <a:off x="6235789" y="5954140"/>
              <a:ext cx="618696" cy="3657"/>
            </a:xfrm>
            <a:prstGeom prst="line">
              <a:avLst/>
            </a:prstGeom>
            <a:ln cap="flat" w="50887">
              <a:solidFill>
                <a:srgbClr val="000000"/>
              </a:solidFill>
              <a:prstDash val="solid"/>
              <a:headEnd type="none" len="sm" w="sm"/>
              <a:tailEnd type="triangle" len="med" w="lg"/>
            </a:ln>
          </p:spPr>
        </p:sp>
        <p:sp>
          <p:nvSpPr>
            <p:cNvPr name="AutoShape 87" id="87"/>
            <p:cNvSpPr/>
            <p:nvPr/>
          </p:nvSpPr>
          <p:spPr>
            <a:xfrm flipV="true">
              <a:off x="1414196" y="4128211"/>
              <a:ext cx="0" cy="445263"/>
            </a:xfrm>
            <a:prstGeom prst="line">
              <a:avLst/>
            </a:prstGeom>
            <a:ln cap="flat" w="50887">
              <a:solidFill>
                <a:srgbClr val="000000"/>
              </a:solidFill>
              <a:prstDash val="sysDot"/>
              <a:headEnd type="none" len="sm" w="sm"/>
              <a:tailEnd type="triangle" len="med" w="lg"/>
            </a:ln>
          </p:spPr>
        </p:sp>
        <p:sp>
          <p:nvSpPr>
            <p:cNvPr name="AutoShape 88" id="88"/>
            <p:cNvSpPr/>
            <p:nvPr/>
          </p:nvSpPr>
          <p:spPr>
            <a:xfrm flipV="true">
              <a:off x="2788409" y="3023227"/>
              <a:ext cx="1034002" cy="700832"/>
            </a:xfrm>
            <a:prstGeom prst="line">
              <a:avLst/>
            </a:prstGeom>
            <a:ln cap="flat" w="50887">
              <a:solidFill>
                <a:srgbClr val="000000"/>
              </a:solidFill>
              <a:prstDash val="sysDash"/>
              <a:headEnd type="none" len="sm" w="sm"/>
              <a:tailEnd type="triangle" len="med" w="lg"/>
            </a:ln>
          </p:spPr>
        </p:sp>
        <p:sp>
          <p:nvSpPr>
            <p:cNvPr name="AutoShape 89" id="89"/>
            <p:cNvSpPr/>
            <p:nvPr/>
          </p:nvSpPr>
          <p:spPr>
            <a:xfrm>
              <a:off x="6068465" y="1775611"/>
              <a:ext cx="975445" cy="0"/>
            </a:xfrm>
            <a:prstGeom prst="line">
              <a:avLst/>
            </a:prstGeom>
            <a:ln cap="flat" w="50887">
              <a:solidFill>
                <a:srgbClr val="000000"/>
              </a:solidFill>
              <a:prstDash val="sysDot"/>
              <a:headEnd type="arrow" len="sm" w="med"/>
              <a:tailEnd type="arrow" len="sm" w="med"/>
            </a:ln>
          </p:spPr>
        </p:sp>
        <p:sp>
          <p:nvSpPr>
            <p:cNvPr name="Freeform 90" id="90"/>
            <p:cNvSpPr/>
            <p:nvPr/>
          </p:nvSpPr>
          <p:spPr>
            <a:xfrm flipH="false" flipV="false" rot="0">
              <a:off x="7283774" y="4592609"/>
              <a:ext cx="325445" cy="378425"/>
            </a:xfrm>
            <a:custGeom>
              <a:avLst/>
              <a:gdLst/>
              <a:ahLst/>
              <a:cxnLst/>
              <a:rect r="r" b="b" t="t" l="l"/>
              <a:pathLst>
                <a:path h="378425" w="325445">
                  <a:moveTo>
                    <a:pt x="0" y="0"/>
                  </a:moveTo>
                  <a:lnTo>
                    <a:pt x="325445" y="0"/>
                  </a:lnTo>
                  <a:lnTo>
                    <a:pt x="325445" y="378425"/>
                  </a:lnTo>
                  <a:lnTo>
                    <a:pt x="0" y="37842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91" id="91"/>
            <p:cNvSpPr/>
            <p:nvPr/>
          </p:nvSpPr>
          <p:spPr>
            <a:xfrm flipH="false" flipV="false" rot="0">
              <a:off x="7160336" y="4027749"/>
              <a:ext cx="475807" cy="475807"/>
            </a:xfrm>
            <a:custGeom>
              <a:avLst/>
              <a:gdLst/>
              <a:ahLst/>
              <a:cxnLst/>
              <a:rect r="r" b="b" t="t" l="l"/>
              <a:pathLst>
                <a:path h="475807" w="475807">
                  <a:moveTo>
                    <a:pt x="0" y="0"/>
                  </a:moveTo>
                  <a:lnTo>
                    <a:pt x="475807" y="0"/>
                  </a:lnTo>
                  <a:lnTo>
                    <a:pt x="475807" y="475807"/>
                  </a:lnTo>
                  <a:lnTo>
                    <a:pt x="0" y="475807"/>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92" id="92"/>
            <p:cNvSpPr/>
            <p:nvPr/>
          </p:nvSpPr>
          <p:spPr>
            <a:xfrm flipH="false" flipV="false" rot="0">
              <a:off x="7685736" y="4027749"/>
              <a:ext cx="475807" cy="475807"/>
            </a:xfrm>
            <a:custGeom>
              <a:avLst/>
              <a:gdLst/>
              <a:ahLst/>
              <a:cxnLst/>
              <a:rect r="r" b="b" t="t" l="l"/>
              <a:pathLst>
                <a:path h="475807" w="475807">
                  <a:moveTo>
                    <a:pt x="0" y="0"/>
                  </a:moveTo>
                  <a:lnTo>
                    <a:pt x="475807" y="0"/>
                  </a:lnTo>
                  <a:lnTo>
                    <a:pt x="475807" y="475807"/>
                  </a:lnTo>
                  <a:lnTo>
                    <a:pt x="0" y="475807"/>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93" id="93"/>
            <p:cNvSpPr/>
            <p:nvPr/>
          </p:nvSpPr>
          <p:spPr>
            <a:xfrm flipH="false" flipV="false" rot="0">
              <a:off x="8227598" y="4027749"/>
              <a:ext cx="475807" cy="475807"/>
            </a:xfrm>
            <a:custGeom>
              <a:avLst/>
              <a:gdLst/>
              <a:ahLst/>
              <a:cxnLst/>
              <a:rect r="r" b="b" t="t" l="l"/>
              <a:pathLst>
                <a:path h="475807" w="475807">
                  <a:moveTo>
                    <a:pt x="0" y="0"/>
                  </a:moveTo>
                  <a:lnTo>
                    <a:pt x="475808" y="0"/>
                  </a:lnTo>
                  <a:lnTo>
                    <a:pt x="475808" y="475807"/>
                  </a:lnTo>
                  <a:lnTo>
                    <a:pt x="0" y="475807"/>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94" id="94"/>
            <p:cNvSpPr/>
            <p:nvPr/>
          </p:nvSpPr>
          <p:spPr>
            <a:xfrm flipH="false" flipV="false" rot="0">
              <a:off x="8757348" y="4027749"/>
              <a:ext cx="475807" cy="475807"/>
            </a:xfrm>
            <a:custGeom>
              <a:avLst/>
              <a:gdLst/>
              <a:ahLst/>
              <a:cxnLst/>
              <a:rect r="r" b="b" t="t" l="l"/>
              <a:pathLst>
                <a:path h="475807" w="475807">
                  <a:moveTo>
                    <a:pt x="0" y="0"/>
                  </a:moveTo>
                  <a:lnTo>
                    <a:pt x="475807" y="0"/>
                  </a:lnTo>
                  <a:lnTo>
                    <a:pt x="475807" y="475807"/>
                  </a:lnTo>
                  <a:lnTo>
                    <a:pt x="0" y="475807"/>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TextBox 95" id="95"/>
            <p:cNvSpPr txBox="true"/>
            <p:nvPr/>
          </p:nvSpPr>
          <p:spPr>
            <a:xfrm rot="0">
              <a:off x="7708161" y="4632357"/>
              <a:ext cx="1898760" cy="289405"/>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Connect to Fluent </a:t>
              </a:r>
            </a:p>
          </p:txBody>
        </p:sp>
        <p:sp>
          <p:nvSpPr>
            <p:cNvPr name="TextBox 96" id="96"/>
            <p:cNvSpPr txBox="true"/>
            <p:nvPr/>
          </p:nvSpPr>
          <p:spPr>
            <a:xfrm rot="0">
              <a:off x="6957269" y="3687457"/>
              <a:ext cx="2729508" cy="289405"/>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Delegate to multiple computers</a:t>
              </a:r>
            </a:p>
          </p:txBody>
        </p:sp>
        <p:sp>
          <p:nvSpPr>
            <p:cNvPr name="Freeform 97" id="97"/>
            <p:cNvSpPr/>
            <p:nvPr/>
          </p:nvSpPr>
          <p:spPr>
            <a:xfrm flipH="false" flipV="false" rot="0">
              <a:off x="941963" y="4573475"/>
              <a:ext cx="944467" cy="944467"/>
            </a:xfrm>
            <a:custGeom>
              <a:avLst/>
              <a:gdLst/>
              <a:ahLst/>
              <a:cxnLst/>
              <a:rect r="r" b="b" t="t" l="l"/>
              <a:pathLst>
                <a:path h="944467" w="944467">
                  <a:moveTo>
                    <a:pt x="0" y="0"/>
                  </a:moveTo>
                  <a:lnTo>
                    <a:pt x="944466" y="0"/>
                  </a:lnTo>
                  <a:lnTo>
                    <a:pt x="944466" y="944466"/>
                  </a:lnTo>
                  <a:lnTo>
                    <a:pt x="0" y="944466"/>
                  </a:lnTo>
                  <a:lnTo>
                    <a:pt x="0" y="0"/>
                  </a:lnTo>
                  <a:close/>
                </a:path>
              </a:pathLst>
            </a:custGeom>
            <a:blipFill>
              <a:blip r:embed="rId31"/>
              <a:stretch>
                <a:fillRect l="0" t="0" r="0" b="0"/>
              </a:stretch>
            </a:blipFill>
          </p:spPr>
        </p:sp>
        <p:sp>
          <p:nvSpPr>
            <p:cNvPr name="Freeform 98" id="98"/>
            <p:cNvSpPr/>
            <p:nvPr/>
          </p:nvSpPr>
          <p:spPr>
            <a:xfrm flipH="false" flipV="false" rot="0">
              <a:off x="933560" y="0"/>
              <a:ext cx="944467" cy="944467"/>
            </a:xfrm>
            <a:custGeom>
              <a:avLst/>
              <a:gdLst/>
              <a:ahLst/>
              <a:cxnLst/>
              <a:rect r="r" b="b" t="t" l="l"/>
              <a:pathLst>
                <a:path h="944467" w="944467">
                  <a:moveTo>
                    <a:pt x="0" y="0"/>
                  </a:moveTo>
                  <a:lnTo>
                    <a:pt x="944467" y="0"/>
                  </a:lnTo>
                  <a:lnTo>
                    <a:pt x="944467" y="944467"/>
                  </a:lnTo>
                  <a:lnTo>
                    <a:pt x="0" y="944467"/>
                  </a:lnTo>
                  <a:lnTo>
                    <a:pt x="0" y="0"/>
                  </a:lnTo>
                  <a:close/>
                </a:path>
              </a:pathLst>
            </a:custGeom>
            <a:blipFill>
              <a:blip r:embed="rId31"/>
              <a:stretch>
                <a:fillRect l="0" t="0" r="0" b="0"/>
              </a:stretch>
            </a:blipFill>
          </p:spPr>
        </p:sp>
        <p:sp>
          <p:nvSpPr>
            <p:cNvPr name="Freeform 99" id="99"/>
            <p:cNvSpPr/>
            <p:nvPr/>
          </p:nvSpPr>
          <p:spPr>
            <a:xfrm flipH="false" flipV="false" rot="0">
              <a:off x="580678" y="936620"/>
              <a:ext cx="428230" cy="428230"/>
            </a:xfrm>
            <a:custGeom>
              <a:avLst/>
              <a:gdLst/>
              <a:ahLst/>
              <a:cxnLst/>
              <a:rect r="r" b="b" t="t" l="l"/>
              <a:pathLst>
                <a:path h="428230" w="428230">
                  <a:moveTo>
                    <a:pt x="0" y="0"/>
                  </a:moveTo>
                  <a:lnTo>
                    <a:pt x="428230" y="0"/>
                  </a:lnTo>
                  <a:lnTo>
                    <a:pt x="428230" y="428230"/>
                  </a:lnTo>
                  <a:lnTo>
                    <a:pt x="0" y="428230"/>
                  </a:lnTo>
                  <a:lnTo>
                    <a:pt x="0" y="0"/>
                  </a:lnTo>
                  <a:close/>
                </a:path>
              </a:pathLst>
            </a:custGeom>
            <a:blipFill>
              <a:blip r:embed="rId31"/>
              <a:stretch>
                <a:fillRect l="0" t="0" r="0" b="0"/>
              </a:stretch>
            </a:blipFill>
          </p:spPr>
        </p:sp>
        <p:sp>
          <p:nvSpPr>
            <p:cNvPr name="Freeform 100" id="100"/>
            <p:cNvSpPr/>
            <p:nvPr/>
          </p:nvSpPr>
          <p:spPr>
            <a:xfrm flipH="false" flipV="false" rot="0">
              <a:off x="1027881" y="932051"/>
              <a:ext cx="428230" cy="428230"/>
            </a:xfrm>
            <a:custGeom>
              <a:avLst/>
              <a:gdLst/>
              <a:ahLst/>
              <a:cxnLst/>
              <a:rect r="r" b="b" t="t" l="l"/>
              <a:pathLst>
                <a:path h="428230" w="428230">
                  <a:moveTo>
                    <a:pt x="0" y="0"/>
                  </a:moveTo>
                  <a:lnTo>
                    <a:pt x="428230" y="0"/>
                  </a:lnTo>
                  <a:lnTo>
                    <a:pt x="428230" y="428230"/>
                  </a:lnTo>
                  <a:lnTo>
                    <a:pt x="0" y="428230"/>
                  </a:lnTo>
                  <a:lnTo>
                    <a:pt x="0" y="0"/>
                  </a:lnTo>
                  <a:close/>
                </a:path>
              </a:pathLst>
            </a:custGeom>
            <a:blipFill>
              <a:blip r:embed="rId31"/>
              <a:stretch>
                <a:fillRect l="0" t="0" r="0" b="0"/>
              </a:stretch>
            </a:blipFill>
          </p:spPr>
        </p:sp>
        <p:sp>
          <p:nvSpPr>
            <p:cNvPr name="Freeform 101" id="101"/>
            <p:cNvSpPr/>
            <p:nvPr/>
          </p:nvSpPr>
          <p:spPr>
            <a:xfrm flipH="false" flipV="false" rot="0">
              <a:off x="1422679" y="932051"/>
              <a:ext cx="428230" cy="428230"/>
            </a:xfrm>
            <a:custGeom>
              <a:avLst/>
              <a:gdLst/>
              <a:ahLst/>
              <a:cxnLst/>
              <a:rect r="r" b="b" t="t" l="l"/>
              <a:pathLst>
                <a:path h="428230" w="428230">
                  <a:moveTo>
                    <a:pt x="0" y="0"/>
                  </a:moveTo>
                  <a:lnTo>
                    <a:pt x="428230" y="0"/>
                  </a:lnTo>
                  <a:lnTo>
                    <a:pt x="428230" y="428230"/>
                  </a:lnTo>
                  <a:lnTo>
                    <a:pt x="0" y="428230"/>
                  </a:lnTo>
                  <a:lnTo>
                    <a:pt x="0" y="0"/>
                  </a:lnTo>
                  <a:close/>
                </a:path>
              </a:pathLst>
            </a:custGeom>
            <a:blipFill>
              <a:blip r:embed="rId31"/>
              <a:stretch>
                <a:fillRect l="0" t="0" r="0" b="0"/>
              </a:stretch>
            </a:blipFill>
          </p:spPr>
        </p:sp>
        <p:sp>
          <p:nvSpPr>
            <p:cNvPr name="Freeform 102" id="102"/>
            <p:cNvSpPr/>
            <p:nvPr/>
          </p:nvSpPr>
          <p:spPr>
            <a:xfrm flipH="false" flipV="false" rot="0">
              <a:off x="1819484" y="932051"/>
              <a:ext cx="428230" cy="428230"/>
            </a:xfrm>
            <a:custGeom>
              <a:avLst/>
              <a:gdLst/>
              <a:ahLst/>
              <a:cxnLst/>
              <a:rect r="r" b="b" t="t" l="l"/>
              <a:pathLst>
                <a:path h="428230" w="428230">
                  <a:moveTo>
                    <a:pt x="0" y="0"/>
                  </a:moveTo>
                  <a:lnTo>
                    <a:pt x="428230" y="0"/>
                  </a:lnTo>
                  <a:lnTo>
                    <a:pt x="428230" y="428230"/>
                  </a:lnTo>
                  <a:lnTo>
                    <a:pt x="0" y="428230"/>
                  </a:lnTo>
                  <a:lnTo>
                    <a:pt x="0" y="0"/>
                  </a:lnTo>
                  <a:close/>
                </a:path>
              </a:pathLst>
            </a:custGeom>
            <a:blipFill>
              <a:blip r:embed="rId31"/>
              <a:stretch>
                <a:fillRect l="0" t="0" r="0" b="0"/>
              </a:stretch>
            </a:blipFill>
          </p:spPr>
        </p:sp>
        <p:sp>
          <p:nvSpPr>
            <p:cNvPr name="TextBox 103" id="103"/>
            <p:cNvSpPr txBox="true"/>
            <p:nvPr/>
          </p:nvSpPr>
          <p:spPr>
            <a:xfrm rot="0">
              <a:off x="567742" y="1384431"/>
              <a:ext cx="1886393" cy="671059"/>
            </a:xfrm>
            <a:prstGeom prst="rect">
              <a:avLst/>
            </a:prstGeom>
          </p:spPr>
          <p:txBody>
            <a:bodyPr anchor="t" rtlCol="false" tIns="0" lIns="0" bIns="0" rIns="0">
              <a:spAutoFit/>
            </a:bodyPr>
            <a:lstStyle/>
            <a:p>
              <a:pPr algn="l">
                <a:lnSpc>
                  <a:spcPts val="2283"/>
                </a:lnSpc>
              </a:pPr>
              <a:r>
                <a:rPr lang="en-US" sz="1903" spc="-38" b="true">
                  <a:solidFill>
                    <a:srgbClr val="404040"/>
                  </a:solidFill>
                  <a:latin typeface="Archivo Narrow Bold"/>
                  <a:ea typeface="Archivo Narrow Bold"/>
                  <a:cs typeface="Archivo Narrow Bold"/>
                  <a:sym typeface="Archivo Narrow Bold"/>
                </a:rPr>
                <a:t>CONTEXT.md</a:t>
              </a:r>
            </a:p>
            <a:p>
              <a:pPr algn="l">
                <a:lnSpc>
                  <a:spcPts val="1682"/>
                </a:lnSpc>
              </a:pPr>
              <a:r>
                <a:rPr lang="en-US" sz="1402" spc="-28" b="true">
                  <a:solidFill>
                    <a:srgbClr val="404040"/>
                  </a:solidFill>
                  <a:latin typeface="Archivo Narrow Bold"/>
                  <a:ea typeface="Archivo Narrow Bold"/>
                  <a:cs typeface="Archivo Narrow Bold"/>
                  <a:sym typeface="Archivo Narrow Bold"/>
                </a:rPr>
                <a:t>     + setup.md(s)</a:t>
              </a:r>
            </a:p>
          </p:txBody>
        </p:sp>
        <p:sp>
          <p:nvSpPr>
            <p:cNvPr name="TextBox 104" id="104"/>
            <p:cNvSpPr txBox="true"/>
            <p:nvPr/>
          </p:nvSpPr>
          <p:spPr>
            <a:xfrm rot="0">
              <a:off x="297343" y="2071409"/>
              <a:ext cx="2516510" cy="849164"/>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This keeps the agent from deviating from task with durable human direction</a:t>
              </a:r>
            </a:p>
          </p:txBody>
        </p:sp>
        <p:sp>
          <p:nvSpPr>
            <p:cNvPr name="TextBox 105" id="105"/>
            <p:cNvSpPr txBox="true"/>
            <p:nvPr/>
          </p:nvSpPr>
          <p:spPr>
            <a:xfrm rot="0">
              <a:off x="3990542" y="673874"/>
              <a:ext cx="2024666" cy="391179"/>
            </a:xfrm>
            <a:prstGeom prst="rect">
              <a:avLst/>
            </a:prstGeom>
          </p:spPr>
          <p:txBody>
            <a:bodyPr anchor="t" rtlCol="false" tIns="0" lIns="0" bIns="0" rIns="0">
              <a:spAutoFit/>
            </a:bodyPr>
            <a:lstStyle/>
            <a:p>
              <a:pPr algn="l">
                <a:lnSpc>
                  <a:spcPts val="2283"/>
                </a:lnSpc>
              </a:pPr>
              <a:r>
                <a:rPr lang="en-US" sz="1903" spc="-38" b="true">
                  <a:solidFill>
                    <a:srgbClr val="404040"/>
                  </a:solidFill>
                  <a:latin typeface="Archivo Narrow Bold"/>
                  <a:ea typeface="Archivo Narrow Bold"/>
                  <a:cs typeface="Archivo Narrow Bold"/>
                  <a:sym typeface="Archivo Narrow Bold"/>
                </a:rPr>
                <a:t>Execution Loop</a:t>
              </a:r>
            </a:p>
          </p:txBody>
        </p:sp>
        <p:sp>
          <p:nvSpPr>
            <p:cNvPr name="TextBox 106" id="106"/>
            <p:cNvSpPr txBox="true"/>
            <p:nvPr/>
          </p:nvSpPr>
          <p:spPr>
            <a:xfrm rot="0">
              <a:off x="389373" y="3703696"/>
              <a:ext cx="2260789" cy="289405"/>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If Auto Loop mode enabled</a:t>
              </a:r>
            </a:p>
          </p:txBody>
        </p:sp>
        <p:sp>
          <p:nvSpPr>
            <p:cNvPr name="TextBox 107" id="107"/>
            <p:cNvSpPr txBox="true"/>
            <p:nvPr/>
          </p:nvSpPr>
          <p:spPr>
            <a:xfrm rot="0">
              <a:off x="4105894" y="1983494"/>
              <a:ext cx="2338378" cy="849164"/>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Write python code to modify settings to build new case through PyFluent</a:t>
              </a:r>
            </a:p>
          </p:txBody>
        </p:sp>
        <p:sp>
          <p:nvSpPr>
            <p:cNvPr name="TextBox 108" id="108"/>
            <p:cNvSpPr txBox="true"/>
            <p:nvPr/>
          </p:nvSpPr>
          <p:spPr>
            <a:xfrm rot="0">
              <a:off x="726522" y="5537517"/>
              <a:ext cx="1886393" cy="391179"/>
            </a:xfrm>
            <a:prstGeom prst="rect">
              <a:avLst/>
            </a:prstGeom>
          </p:spPr>
          <p:txBody>
            <a:bodyPr anchor="t" rtlCol="false" tIns="0" lIns="0" bIns="0" rIns="0">
              <a:spAutoFit/>
            </a:bodyPr>
            <a:lstStyle/>
            <a:p>
              <a:pPr algn="l">
                <a:lnSpc>
                  <a:spcPts val="2283"/>
                </a:lnSpc>
              </a:pPr>
              <a:r>
                <a:rPr lang="en-US" sz="1903" spc="-38" b="true">
                  <a:solidFill>
                    <a:srgbClr val="404040"/>
                  </a:solidFill>
                  <a:latin typeface="Archivo Narrow Bold"/>
                  <a:ea typeface="Archivo Narrow Bold"/>
                  <a:cs typeface="Archivo Narrow Bold"/>
                  <a:sym typeface="Archivo Narrow Bold"/>
                </a:rPr>
                <a:t>Result.md</a:t>
              </a:r>
            </a:p>
          </p:txBody>
        </p:sp>
        <p:sp>
          <p:nvSpPr>
            <p:cNvPr name="TextBox 109" id="109"/>
            <p:cNvSpPr txBox="true"/>
            <p:nvPr/>
          </p:nvSpPr>
          <p:spPr>
            <a:xfrm rot="0">
              <a:off x="297343" y="5948272"/>
              <a:ext cx="2516510" cy="849164"/>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Use analysis SKILL to create relavant plots, contours, and tables to report the results.</a:t>
              </a:r>
            </a:p>
          </p:txBody>
        </p:sp>
      </p:grpSp>
      <p:grpSp>
        <p:nvGrpSpPr>
          <p:cNvPr name="Group 110" id="110"/>
          <p:cNvGrpSpPr/>
          <p:nvPr/>
        </p:nvGrpSpPr>
        <p:grpSpPr>
          <a:xfrm rot="0">
            <a:off x="10903389" y="16567875"/>
            <a:ext cx="1619544" cy="1319488"/>
            <a:chOff x="0" y="0"/>
            <a:chExt cx="2159391" cy="1759317"/>
          </a:xfrm>
        </p:grpSpPr>
        <p:grpSp>
          <p:nvGrpSpPr>
            <p:cNvPr name="Group 111" id="111"/>
            <p:cNvGrpSpPr/>
            <p:nvPr/>
          </p:nvGrpSpPr>
          <p:grpSpPr>
            <a:xfrm rot="0">
              <a:off x="0" y="0"/>
              <a:ext cx="2159391" cy="1759317"/>
              <a:chOff x="0" y="0"/>
              <a:chExt cx="1450653" cy="1181681"/>
            </a:xfrm>
          </p:grpSpPr>
          <p:sp>
            <p:nvSpPr>
              <p:cNvPr name="Freeform 112" id="112"/>
              <p:cNvSpPr/>
              <p:nvPr/>
            </p:nvSpPr>
            <p:spPr>
              <a:xfrm flipH="false" flipV="false" rot="0">
                <a:off x="0" y="0"/>
                <a:ext cx="1450653" cy="1181681"/>
              </a:xfrm>
              <a:custGeom>
                <a:avLst/>
                <a:gdLst/>
                <a:ahLst/>
                <a:cxnLst/>
                <a:rect r="r" b="b" t="t" l="l"/>
                <a:pathLst>
                  <a:path h="1181681" w="1450653">
                    <a:moveTo>
                      <a:pt x="1450653" y="119508"/>
                    </a:moveTo>
                    <a:lnTo>
                      <a:pt x="1450653" y="1062173"/>
                    </a:lnTo>
                    <a:cubicBezTo>
                      <a:pt x="1450653" y="1093869"/>
                      <a:pt x="1438062" y="1124266"/>
                      <a:pt x="1415650" y="1146678"/>
                    </a:cubicBezTo>
                    <a:cubicBezTo>
                      <a:pt x="1393238" y="1169090"/>
                      <a:pt x="1362840" y="1181681"/>
                      <a:pt x="1331145" y="1181681"/>
                    </a:cubicBezTo>
                    <a:lnTo>
                      <a:pt x="119508" y="1181681"/>
                    </a:lnTo>
                    <a:cubicBezTo>
                      <a:pt x="87812" y="1181681"/>
                      <a:pt x="57415" y="1169090"/>
                      <a:pt x="35003" y="1146678"/>
                    </a:cubicBezTo>
                    <a:cubicBezTo>
                      <a:pt x="12591" y="1124266"/>
                      <a:pt x="0" y="1093869"/>
                      <a:pt x="0" y="1062173"/>
                    </a:cubicBezTo>
                    <a:lnTo>
                      <a:pt x="0" y="119508"/>
                    </a:lnTo>
                    <a:cubicBezTo>
                      <a:pt x="0" y="87812"/>
                      <a:pt x="12591" y="57415"/>
                      <a:pt x="35003" y="35003"/>
                    </a:cubicBezTo>
                    <a:cubicBezTo>
                      <a:pt x="57415" y="12591"/>
                      <a:pt x="87812" y="0"/>
                      <a:pt x="119508" y="0"/>
                    </a:cubicBezTo>
                    <a:lnTo>
                      <a:pt x="1331145" y="0"/>
                    </a:lnTo>
                    <a:cubicBezTo>
                      <a:pt x="1397147" y="0"/>
                      <a:pt x="1450653" y="53505"/>
                      <a:pt x="1450653" y="119508"/>
                    </a:cubicBezTo>
                    <a:close/>
                  </a:path>
                </a:pathLst>
              </a:custGeom>
              <a:ln w="19050" cap="rnd">
                <a:solidFill>
                  <a:srgbClr val="092243"/>
                </a:solidFill>
                <a:prstDash val="solid"/>
                <a:round/>
              </a:ln>
            </p:spPr>
          </p:sp>
          <p:sp>
            <p:nvSpPr>
              <p:cNvPr name="TextBox 113" id="113"/>
              <p:cNvSpPr txBox="true"/>
              <p:nvPr/>
            </p:nvSpPr>
            <p:spPr>
              <a:xfrm>
                <a:off x="0" y="-9525"/>
                <a:ext cx="1450653" cy="1191206"/>
              </a:xfrm>
              <a:prstGeom prst="rect">
                <a:avLst/>
              </a:prstGeom>
            </p:spPr>
            <p:txBody>
              <a:bodyPr anchor="ctr" rtlCol="false" tIns="50887" lIns="50887" bIns="50887" rIns="50887"/>
              <a:lstStyle/>
              <a:p>
                <a:pPr algn="ctr">
                  <a:lnSpc>
                    <a:spcPts val="4139"/>
                  </a:lnSpc>
                </a:pPr>
              </a:p>
            </p:txBody>
          </p:sp>
        </p:grpSp>
        <p:sp>
          <p:nvSpPr>
            <p:cNvPr name="Freeform 114" id="114"/>
            <p:cNvSpPr/>
            <p:nvPr/>
          </p:nvSpPr>
          <p:spPr>
            <a:xfrm flipH="false" flipV="false" rot="0">
              <a:off x="759092" y="7720"/>
              <a:ext cx="587364" cy="587364"/>
            </a:xfrm>
            <a:custGeom>
              <a:avLst/>
              <a:gdLst/>
              <a:ahLst/>
              <a:cxnLst/>
              <a:rect r="r" b="b" t="t" l="l"/>
              <a:pathLst>
                <a:path h="587364" w="587364">
                  <a:moveTo>
                    <a:pt x="0" y="0"/>
                  </a:moveTo>
                  <a:lnTo>
                    <a:pt x="587364" y="0"/>
                  </a:lnTo>
                  <a:lnTo>
                    <a:pt x="587364" y="587365"/>
                  </a:lnTo>
                  <a:lnTo>
                    <a:pt x="0" y="587365"/>
                  </a:lnTo>
                  <a:lnTo>
                    <a:pt x="0" y="0"/>
                  </a:lnTo>
                  <a:close/>
                </a:path>
              </a:pathLst>
            </a:custGeom>
            <a:blipFill>
              <a:blip r:embed="rId20"/>
              <a:stretch>
                <a:fillRect l="0" t="0" r="0" b="0"/>
              </a:stretch>
            </a:blipFill>
            <a:ln cap="sq">
              <a:noFill/>
              <a:prstDash val="solid"/>
              <a:miter/>
            </a:ln>
          </p:spPr>
        </p:sp>
        <p:sp>
          <p:nvSpPr>
            <p:cNvPr name="TextBox 115" id="115"/>
            <p:cNvSpPr txBox="true"/>
            <p:nvPr/>
          </p:nvSpPr>
          <p:spPr>
            <a:xfrm rot="0">
              <a:off x="228671" y="557853"/>
              <a:ext cx="1898760" cy="1129044"/>
            </a:xfrm>
            <a:prstGeom prst="rect">
              <a:avLst/>
            </a:prstGeom>
          </p:spPr>
          <p:txBody>
            <a:bodyPr anchor="t" rtlCol="false" tIns="0" lIns="0" bIns="0" rIns="0">
              <a:spAutoFit/>
            </a:bodyPr>
            <a:lstStyle/>
            <a:p>
              <a:pPr algn="l">
                <a:lnSpc>
                  <a:spcPts val="1682"/>
                </a:lnSpc>
              </a:pPr>
              <a:r>
                <a:rPr lang="en-US" sz="1402" spc="-28">
                  <a:solidFill>
                    <a:srgbClr val="404040"/>
                  </a:solidFill>
                  <a:latin typeface="Archivo Narrow"/>
                  <a:ea typeface="Archivo Narrow"/>
                  <a:cs typeface="Archivo Narrow"/>
                  <a:sym typeface="Archivo Narrow"/>
                </a:rPr>
                <a:t>PyFluent Guide to build an accurate TUI command to enable the correct setting</a:t>
              </a:r>
            </a:p>
          </p:txBody>
        </p:sp>
      </p:grpSp>
      <p:sp>
        <p:nvSpPr>
          <p:cNvPr name="Freeform 116" id="116"/>
          <p:cNvSpPr/>
          <p:nvPr/>
        </p:nvSpPr>
        <p:spPr>
          <a:xfrm flipH="false" flipV="false" rot="0">
            <a:off x="11301251" y="19798230"/>
            <a:ext cx="312189" cy="310628"/>
          </a:xfrm>
          <a:custGeom>
            <a:avLst/>
            <a:gdLst/>
            <a:ahLst/>
            <a:cxnLst/>
            <a:rect r="r" b="b" t="t" l="l"/>
            <a:pathLst>
              <a:path h="310628" w="312189">
                <a:moveTo>
                  <a:pt x="0" y="0"/>
                </a:moveTo>
                <a:lnTo>
                  <a:pt x="312188" y="0"/>
                </a:lnTo>
                <a:lnTo>
                  <a:pt x="312188" y="310628"/>
                </a:lnTo>
                <a:lnTo>
                  <a:pt x="0" y="310628"/>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grpSp>
        <p:nvGrpSpPr>
          <p:cNvPr name="Group 117" id="117"/>
          <p:cNvGrpSpPr/>
          <p:nvPr/>
        </p:nvGrpSpPr>
        <p:grpSpPr>
          <a:xfrm rot="0">
            <a:off x="8419023" y="18700255"/>
            <a:ext cx="1675690" cy="1949187"/>
            <a:chOff x="0" y="0"/>
            <a:chExt cx="2234254" cy="2598915"/>
          </a:xfrm>
        </p:grpSpPr>
        <p:sp>
          <p:nvSpPr>
            <p:cNvPr name="TextBox 118" id="118"/>
            <p:cNvSpPr txBox="true"/>
            <p:nvPr/>
          </p:nvSpPr>
          <p:spPr>
            <a:xfrm rot="0">
              <a:off x="47551" y="2030590"/>
              <a:ext cx="2186703" cy="568325"/>
            </a:xfrm>
            <a:prstGeom prst="rect">
              <a:avLst/>
            </a:prstGeom>
          </p:spPr>
          <p:txBody>
            <a:bodyPr anchor="t" rtlCol="false" tIns="0" lIns="0" bIns="0" rIns="0">
              <a:spAutoFit/>
            </a:bodyPr>
            <a:lstStyle/>
            <a:p>
              <a:pPr algn="l">
                <a:lnSpc>
                  <a:spcPts val="1680"/>
                </a:lnSpc>
              </a:pPr>
              <a:r>
                <a:rPr lang="en-US" sz="1400" spc="-28">
                  <a:solidFill>
                    <a:srgbClr val="404040"/>
                  </a:solidFill>
                  <a:latin typeface="Archivo Narrow"/>
                  <a:ea typeface="Archivo Narrow"/>
                  <a:cs typeface="Archivo Narrow"/>
                  <a:sym typeface="Archivo Narrow"/>
                </a:rPr>
                <a:t>Allocate an agent per session and run simulation</a:t>
              </a:r>
            </a:p>
          </p:txBody>
        </p:sp>
        <p:sp>
          <p:nvSpPr>
            <p:cNvPr name="Freeform 119" id="119"/>
            <p:cNvSpPr/>
            <p:nvPr/>
          </p:nvSpPr>
          <p:spPr>
            <a:xfrm flipH="false" flipV="false" rot="0">
              <a:off x="1603636" y="1418681"/>
              <a:ext cx="474992" cy="474992"/>
            </a:xfrm>
            <a:custGeom>
              <a:avLst/>
              <a:gdLst/>
              <a:ahLst/>
              <a:cxnLst/>
              <a:rect r="r" b="b" t="t" l="l"/>
              <a:pathLst>
                <a:path h="474992" w="474992">
                  <a:moveTo>
                    <a:pt x="0" y="0"/>
                  </a:moveTo>
                  <a:lnTo>
                    <a:pt x="474992" y="0"/>
                  </a:lnTo>
                  <a:lnTo>
                    <a:pt x="474992" y="474992"/>
                  </a:lnTo>
                  <a:lnTo>
                    <a:pt x="0" y="474992"/>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20" id="120"/>
            <p:cNvSpPr/>
            <p:nvPr/>
          </p:nvSpPr>
          <p:spPr>
            <a:xfrm flipH="false" flipV="false" rot="0">
              <a:off x="1074795" y="1418681"/>
              <a:ext cx="474992" cy="474992"/>
            </a:xfrm>
            <a:custGeom>
              <a:avLst/>
              <a:gdLst/>
              <a:ahLst/>
              <a:cxnLst/>
              <a:rect r="r" b="b" t="t" l="l"/>
              <a:pathLst>
                <a:path h="474992" w="474992">
                  <a:moveTo>
                    <a:pt x="0" y="0"/>
                  </a:moveTo>
                  <a:lnTo>
                    <a:pt x="474992" y="0"/>
                  </a:lnTo>
                  <a:lnTo>
                    <a:pt x="474992" y="474992"/>
                  </a:lnTo>
                  <a:lnTo>
                    <a:pt x="0" y="474992"/>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21" id="121"/>
            <p:cNvSpPr/>
            <p:nvPr/>
          </p:nvSpPr>
          <p:spPr>
            <a:xfrm flipH="false" flipV="false" rot="0">
              <a:off x="533861" y="1418681"/>
              <a:ext cx="474992" cy="474992"/>
            </a:xfrm>
            <a:custGeom>
              <a:avLst/>
              <a:gdLst/>
              <a:ahLst/>
              <a:cxnLst/>
              <a:rect r="r" b="b" t="t" l="l"/>
              <a:pathLst>
                <a:path h="474992" w="474992">
                  <a:moveTo>
                    <a:pt x="0" y="0"/>
                  </a:moveTo>
                  <a:lnTo>
                    <a:pt x="474992" y="0"/>
                  </a:lnTo>
                  <a:lnTo>
                    <a:pt x="474992" y="474992"/>
                  </a:lnTo>
                  <a:lnTo>
                    <a:pt x="0" y="474992"/>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22" id="122"/>
            <p:cNvSpPr/>
            <p:nvPr/>
          </p:nvSpPr>
          <p:spPr>
            <a:xfrm flipH="false" flipV="false" rot="0">
              <a:off x="9361" y="1418681"/>
              <a:ext cx="474992" cy="474992"/>
            </a:xfrm>
            <a:custGeom>
              <a:avLst/>
              <a:gdLst/>
              <a:ahLst/>
              <a:cxnLst/>
              <a:rect r="r" b="b" t="t" l="l"/>
              <a:pathLst>
                <a:path h="474992" w="474992">
                  <a:moveTo>
                    <a:pt x="0" y="0"/>
                  </a:moveTo>
                  <a:lnTo>
                    <a:pt x="474992" y="0"/>
                  </a:lnTo>
                  <a:lnTo>
                    <a:pt x="474992" y="474992"/>
                  </a:lnTo>
                  <a:lnTo>
                    <a:pt x="0" y="474992"/>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23" id="123"/>
            <p:cNvSpPr/>
            <p:nvPr/>
          </p:nvSpPr>
          <p:spPr>
            <a:xfrm flipH="false" flipV="false" rot="0">
              <a:off x="1087601" y="1014836"/>
              <a:ext cx="429656" cy="322030"/>
            </a:xfrm>
            <a:custGeom>
              <a:avLst/>
              <a:gdLst/>
              <a:ahLst/>
              <a:cxnLst/>
              <a:rect r="r" b="b" t="t" l="l"/>
              <a:pathLst>
                <a:path h="322030" w="429656">
                  <a:moveTo>
                    <a:pt x="0" y="0"/>
                  </a:moveTo>
                  <a:lnTo>
                    <a:pt x="429656" y="0"/>
                  </a:lnTo>
                  <a:lnTo>
                    <a:pt x="429656" y="322031"/>
                  </a:lnTo>
                  <a:lnTo>
                    <a:pt x="0" y="322031"/>
                  </a:lnTo>
                  <a:lnTo>
                    <a:pt x="0" y="0"/>
                  </a:lnTo>
                  <a:close/>
                </a:path>
              </a:pathLst>
            </a:custGeom>
            <a:blipFill>
              <a:blip r:embed="rId24">
                <a:extLst>
                  <a:ext uri="{96DAC541-7B7A-43D3-8B79-37D633B846F1}">
                    <asvg:svgBlip xmlns:asvg="http://schemas.microsoft.com/office/drawing/2016/SVG/main" r:embed="rId25"/>
                  </a:ext>
                </a:extLst>
              </a:blip>
              <a:stretch>
                <a:fillRect l="0" t="0" r="0" b="-51614"/>
              </a:stretch>
            </a:blipFill>
          </p:spPr>
        </p:sp>
        <p:sp>
          <p:nvSpPr>
            <p:cNvPr name="Freeform 124" id="124"/>
            <p:cNvSpPr/>
            <p:nvPr/>
          </p:nvSpPr>
          <p:spPr>
            <a:xfrm flipH="false" flipV="false" rot="0">
              <a:off x="548481" y="1014836"/>
              <a:ext cx="429656" cy="322030"/>
            </a:xfrm>
            <a:custGeom>
              <a:avLst/>
              <a:gdLst/>
              <a:ahLst/>
              <a:cxnLst/>
              <a:rect r="r" b="b" t="t" l="l"/>
              <a:pathLst>
                <a:path h="322030" w="429656">
                  <a:moveTo>
                    <a:pt x="0" y="0"/>
                  </a:moveTo>
                  <a:lnTo>
                    <a:pt x="429656" y="0"/>
                  </a:lnTo>
                  <a:lnTo>
                    <a:pt x="429656" y="322031"/>
                  </a:lnTo>
                  <a:lnTo>
                    <a:pt x="0" y="322031"/>
                  </a:lnTo>
                  <a:lnTo>
                    <a:pt x="0" y="0"/>
                  </a:lnTo>
                  <a:close/>
                </a:path>
              </a:pathLst>
            </a:custGeom>
            <a:blipFill>
              <a:blip r:embed="rId24">
                <a:extLst>
                  <a:ext uri="{96DAC541-7B7A-43D3-8B79-37D633B846F1}">
                    <asvg:svgBlip xmlns:asvg="http://schemas.microsoft.com/office/drawing/2016/SVG/main" r:embed="rId25"/>
                  </a:ext>
                </a:extLst>
              </a:blip>
              <a:stretch>
                <a:fillRect l="0" t="0" r="0" b="-51614"/>
              </a:stretch>
            </a:blipFill>
          </p:spPr>
        </p:sp>
        <p:sp>
          <p:nvSpPr>
            <p:cNvPr name="Freeform 125" id="125"/>
            <p:cNvSpPr/>
            <p:nvPr/>
          </p:nvSpPr>
          <p:spPr>
            <a:xfrm flipH="false" flipV="false" rot="0">
              <a:off x="9361" y="1014836"/>
              <a:ext cx="429656" cy="322030"/>
            </a:xfrm>
            <a:custGeom>
              <a:avLst/>
              <a:gdLst/>
              <a:ahLst/>
              <a:cxnLst/>
              <a:rect r="r" b="b" t="t" l="l"/>
              <a:pathLst>
                <a:path h="322030" w="429656">
                  <a:moveTo>
                    <a:pt x="0" y="0"/>
                  </a:moveTo>
                  <a:lnTo>
                    <a:pt x="429656" y="0"/>
                  </a:lnTo>
                  <a:lnTo>
                    <a:pt x="429656" y="322031"/>
                  </a:lnTo>
                  <a:lnTo>
                    <a:pt x="0" y="322031"/>
                  </a:lnTo>
                  <a:lnTo>
                    <a:pt x="0" y="0"/>
                  </a:lnTo>
                  <a:close/>
                </a:path>
              </a:pathLst>
            </a:custGeom>
            <a:blipFill>
              <a:blip r:embed="rId24">
                <a:extLst>
                  <a:ext uri="{96DAC541-7B7A-43D3-8B79-37D633B846F1}">
                    <asvg:svgBlip xmlns:asvg="http://schemas.microsoft.com/office/drawing/2016/SVG/main" r:embed="rId25"/>
                  </a:ext>
                </a:extLst>
              </a:blip>
              <a:stretch>
                <a:fillRect l="0" t="0" r="0" b="-51614"/>
              </a:stretch>
            </a:blipFill>
          </p:spPr>
        </p:sp>
        <p:sp>
          <p:nvSpPr>
            <p:cNvPr name="Freeform 126" id="126"/>
            <p:cNvSpPr/>
            <p:nvPr/>
          </p:nvSpPr>
          <p:spPr>
            <a:xfrm flipH="false" flipV="false" rot="0">
              <a:off x="1604497" y="1014836"/>
              <a:ext cx="429656" cy="322030"/>
            </a:xfrm>
            <a:custGeom>
              <a:avLst/>
              <a:gdLst/>
              <a:ahLst/>
              <a:cxnLst/>
              <a:rect r="r" b="b" t="t" l="l"/>
              <a:pathLst>
                <a:path h="322030" w="429656">
                  <a:moveTo>
                    <a:pt x="0" y="0"/>
                  </a:moveTo>
                  <a:lnTo>
                    <a:pt x="429655" y="0"/>
                  </a:lnTo>
                  <a:lnTo>
                    <a:pt x="429655" y="322031"/>
                  </a:lnTo>
                  <a:lnTo>
                    <a:pt x="0" y="322031"/>
                  </a:lnTo>
                  <a:lnTo>
                    <a:pt x="0" y="0"/>
                  </a:lnTo>
                  <a:close/>
                </a:path>
              </a:pathLst>
            </a:custGeom>
            <a:blipFill>
              <a:blip r:embed="rId24">
                <a:extLst>
                  <a:ext uri="{96DAC541-7B7A-43D3-8B79-37D633B846F1}">
                    <asvg:svgBlip xmlns:asvg="http://schemas.microsoft.com/office/drawing/2016/SVG/main" r:embed="rId25"/>
                  </a:ext>
                </a:extLst>
              </a:blip>
              <a:stretch>
                <a:fillRect l="0" t="0" r="0" b="-51614"/>
              </a:stretch>
            </a:blipFill>
          </p:spPr>
        </p:sp>
        <p:grpSp>
          <p:nvGrpSpPr>
            <p:cNvPr name="Group 127" id="127"/>
            <p:cNvGrpSpPr/>
            <p:nvPr/>
          </p:nvGrpSpPr>
          <p:grpSpPr>
            <a:xfrm rot="0">
              <a:off x="0" y="0"/>
              <a:ext cx="2155690" cy="938618"/>
              <a:chOff x="0" y="0"/>
              <a:chExt cx="1450653" cy="631524"/>
            </a:xfrm>
          </p:grpSpPr>
          <p:sp>
            <p:nvSpPr>
              <p:cNvPr name="Freeform 128" id="128"/>
              <p:cNvSpPr/>
              <p:nvPr/>
            </p:nvSpPr>
            <p:spPr>
              <a:xfrm flipH="false" flipV="false" rot="0">
                <a:off x="0" y="0"/>
                <a:ext cx="1450653" cy="631524"/>
              </a:xfrm>
              <a:custGeom>
                <a:avLst/>
                <a:gdLst/>
                <a:ahLst/>
                <a:cxnLst/>
                <a:rect r="r" b="b" t="t" l="l"/>
                <a:pathLst>
                  <a:path h="631524" w="1450653">
                    <a:moveTo>
                      <a:pt x="1450653" y="119713"/>
                    </a:moveTo>
                    <a:lnTo>
                      <a:pt x="1450653" y="511811"/>
                    </a:lnTo>
                    <a:cubicBezTo>
                      <a:pt x="1450653" y="577927"/>
                      <a:pt x="1397055" y="631524"/>
                      <a:pt x="1330940" y="631524"/>
                    </a:cubicBezTo>
                    <a:lnTo>
                      <a:pt x="119713" y="631524"/>
                    </a:lnTo>
                    <a:cubicBezTo>
                      <a:pt x="53597" y="631524"/>
                      <a:pt x="0" y="577927"/>
                      <a:pt x="0" y="511811"/>
                    </a:cubicBezTo>
                    <a:lnTo>
                      <a:pt x="0" y="119713"/>
                    </a:lnTo>
                    <a:cubicBezTo>
                      <a:pt x="0" y="53597"/>
                      <a:pt x="53597" y="0"/>
                      <a:pt x="119713" y="0"/>
                    </a:cubicBezTo>
                    <a:lnTo>
                      <a:pt x="1330940" y="0"/>
                    </a:lnTo>
                    <a:cubicBezTo>
                      <a:pt x="1397055" y="0"/>
                      <a:pt x="1450653" y="53597"/>
                      <a:pt x="1450653" y="119713"/>
                    </a:cubicBezTo>
                    <a:close/>
                  </a:path>
                </a:pathLst>
              </a:custGeom>
              <a:solidFill>
                <a:srgbClr val="FFFFFF"/>
              </a:solidFill>
              <a:ln w="19050" cap="rnd">
                <a:solidFill>
                  <a:srgbClr val="092243"/>
                </a:solidFill>
                <a:prstDash val="solid"/>
                <a:round/>
              </a:ln>
            </p:spPr>
          </p:sp>
          <p:sp>
            <p:nvSpPr>
              <p:cNvPr name="TextBox 129" id="129"/>
              <p:cNvSpPr txBox="true"/>
              <p:nvPr/>
            </p:nvSpPr>
            <p:spPr>
              <a:xfrm>
                <a:off x="0" y="-9525"/>
                <a:ext cx="1450653" cy="641049"/>
              </a:xfrm>
              <a:prstGeom prst="rect">
                <a:avLst/>
              </a:prstGeom>
            </p:spPr>
            <p:txBody>
              <a:bodyPr anchor="ctr" rtlCol="false" tIns="50800" lIns="50800" bIns="50800" rIns="50800"/>
              <a:lstStyle/>
              <a:p>
                <a:pPr algn="ctr">
                  <a:lnSpc>
                    <a:spcPts val="4139"/>
                  </a:lnSpc>
                </a:pPr>
              </a:p>
            </p:txBody>
          </p:sp>
        </p:grpSp>
        <p:sp>
          <p:nvSpPr>
            <p:cNvPr name="TextBox 130" id="130"/>
            <p:cNvSpPr txBox="true"/>
            <p:nvPr/>
          </p:nvSpPr>
          <p:spPr>
            <a:xfrm rot="0">
              <a:off x="153648" y="596880"/>
              <a:ext cx="1806097" cy="288925"/>
            </a:xfrm>
            <a:prstGeom prst="rect">
              <a:avLst/>
            </a:prstGeom>
          </p:spPr>
          <p:txBody>
            <a:bodyPr anchor="t" rtlCol="false" tIns="0" lIns="0" bIns="0" rIns="0">
              <a:spAutoFit/>
            </a:bodyPr>
            <a:lstStyle/>
            <a:p>
              <a:pPr algn="l">
                <a:lnSpc>
                  <a:spcPts val="1680"/>
                </a:lnSpc>
              </a:pPr>
              <a:r>
                <a:rPr lang="en-US" sz="1400" spc="-28">
                  <a:solidFill>
                    <a:srgbClr val="404040"/>
                  </a:solidFill>
                  <a:latin typeface="Archivo Narrow"/>
                  <a:ea typeface="Archivo Narrow"/>
                  <a:cs typeface="Archivo Narrow"/>
                  <a:sym typeface="Archivo Narrow"/>
                </a:rPr>
                <a:t>One Drive file sharing</a:t>
              </a:r>
            </a:p>
          </p:txBody>
        </p:sp>
        <p:sp>
          <p:nvSpPr>
            <p:cNvPr name="Freeform 131" id="131"/>
            <p:cNvSpPr/>
            <p:nvPr/>
          </p:nvSpPr>
          <p:spPr>
            <a:xfrm flipH="false" flipV="false" rot="0">
              <a:off x="737338" y="80568"/>
              <a:ext cx="638717" cy="530135"/>
            </a:xfrm>
            <a:custGeom>
              <a:avLst/>
              <a:gdLst/>
              <a:ahLst/>
              <a:cxnLst/>
              <a:rect r="r" b="b" t="t" l="l"/>
              <a:pathLst>
                <a:path h="530135" w="638717">
                  <a:moveTo>
                    <a:pt x="0" y="0"/>
                  </a:moveTo>
                  <a:lnTo>
                    <a:pt x="638717" y="0"/>
                  </a:lnTo>
                  <a:lnTo>
                    <a:pt x="638717" y="530135"/>
                  </a:lnTo>
                  <a:lnTo>
                    <a:pt x="0" y="530135"/>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grpSp>
      <p:sp>
        <p:nvSpPr>
          <p:cNvPr name="Freeform 132" id="132"/>
          <p:cNvSpPr/>
          <p:nvPr/>
        </p:nvSpPr>
        <p:spPr>
          <a:xfrm>
            <a:off x="4768740" y="16690971"/>
            <a:ext cx="1034931" cy="360067"/>
          </a:xfrm>
          <a:custGeom>
            <a:avLst/>
            <a:gdLst/>
            <a:ahLst/>
            <a:cxnLst/>
            <a:rect r="r" b="b" t="t" l="l"/>
            <a:pathLst>
              <a:path h="360067" w="1034931">
                <a:moveTo>
                  <a:pt x="0" y="360067"/>
                </a:moveTo>
                <a:quadBezTo>
                  <a:pt x="431006" y="-71584"/>
                  <a:pt x="1034931" y="14231"/>
                </a:quadBezTo>
              </a:path>
            </a:pathLst>
          </a:custGeom>
          <a:ln cap="flat" w="38100">
            <a:solidFill>
              <a:srgbClr val="000000"/>
            </a:solidFill>
            <a:prstDash val="solid"/>
            <a:headEnd type="none" len="sm" w="sm"/>
            <a:tailEnd type="triangle" len="med" w="lg"/>
          </a:ln>
        </p:spPr>
      </p:sp>
      <p:sp>
        <p:nvSpPr>
          <p:cNvPr name="Freeform 133" id="133"/>
          <p:cNvSpPr/>
          <p:nvPr/>
        </p:nvSpPr>
        <p:spPr>
          <a:xfrm>
            <a:off x="3952831" y="18777056"/>
            <a:ext cx="2059945" cy="627163"/>
          </a:xfrm>
          <a:custGeom>
            <a:avLst/>
            <a:gdLst/>
            <a:ahLst/>
            <a:cxnLst/>
            <a:rect r="r" b="b" t="t" l="l"/>
            <a:pathLst>
              <a:path h="627163" w="2059945">
                <a:moveTo>
                  <a:pt x="2059944" y="627163"/>
                </a:moveTo>
                <a:quadBezTo>
                  <a:pt x="1134618" y="-30207"/>
                  <a:pt x="0" y="1455"/>
                </a:quadBezTo>
              </a:path>
            </a:pathLst>
          </a:custGeom>
          <a:ln cap="flat" w="38100">
            <a:solidFill>
              <a:srgbClr val="000000"/>
            </a:solidFill>
            <a:prstDash val="solid"/>
            <a:headEnd type="none" len="sm" w="sm"/>
            <a:tailEnd type="triangle" len="med" w="lg"/>
          </a:ln>
        </p:spPr>
      </p:sp>
      <p:sp>
        <p:nvSpPr>
          <p:cNvPr name="AutoShape 134" id="134"/>
          <p:cNvSpPr/>
          <p:nvPr/>
        </p:nvSpPr>
        <p:spPr>
          <a:xfrm flipH="true">
            <a:off x="2384897" y="17190598"/>
            <a:ext cx="1436774" cy="0"/>
          </a:xfrm>
          <a:prstGeom prst="line">
            <a:avLst/>
          </a:prstGeom>
          <a:ln cap="flat" w="38100">
            <a:solidFill>
              <a:srgbClr val="000000"/>
            </a:solidFill>
            <a:prstDash val="solid"/>
            <a:headEnd type="none" len="sm" w="sm"/>
            <a:tailEnd type="triangle" len="med" w="lg"/>
          </a:ln>
        </p:spPr>
      </p:sp>
      <p:sp>
        <p:nvSpPr>
          <p:cNvPr name="Freeform 135" id="135"/>
          <p:cNvSpPr/>
          <p:nvPr/>
        </p:nvSpPr>
        <p:spPr>
          <a:xfrm flipH="false" flipV="false" rot="-1703966">
            <a:off x="10846144" y="10205219"/>
            <a:ext cx="1017091" cy="579742"/>
          </a:xfrm>
          <a:custGeom>
            <a:avLst/>
            <a:gdLst/>
            <a:ahLst/>
            <a:cxnLst/>
            <a:rect r="r" b="b" t="t" l="l"/>
            <a:pathLst>
              <a:path h="579742" w="1017091">
                <a:moveTo>
                  <a:pt x="0" y="0"/>
                </a:moveTo>
                <a:lnTo>
                  <a:pt x="1017091" y="0"/>
                </a:lnTo>
                <a:lnTo>
                  <a:pt x="1017091" y="579742"/>
                </a:lnTo>
                <a:lnTo>
                  <a:pt x="0" y="579742"/>
                </a:lnTo>
                <a:lnTo>
                  <a:pt x="0" y="0"/>
                </a:lnTo>
                <a:close/>
              </a:path>
            </a:pathLst>
          </a:custGeom>
          <a:blipFill>
            <a:blip r:embed="rId36">
              <a:alphaModFix amt="63000"/>
              <a:extLst>
                <a:ext uri="{96DAC541-7B7A-43D3-8B79-37D633B846F1}">
                  <asvg:svgBlip xmlns:asvg="http://schemas.microsoft.com/office/drawing/2016/SVG/main" r:embed="rId37"/>
                </a:ext>
              </a:extLst>
            </a:blip>
            <a:stretch>
              <a:fillRect l="0" t="0" r="0" b="0"/>
            </a:stretch>
          </a:blipFill>
        </p:spPr>
      </p:sp>
      <p:sp>
        <p:nvSpPr>
          <p:cNvPr name="Freeform 136" id="136"/>
          <p:cNvSpPr/>
          <p:nvPr/>
        </p:nvSpPr>
        <p:spPr>
          <a:xfrm flipH="false" flipV="false" rot="0">
            <a:off x="24183052" y="20143186"/>
            <a:ext cx="4434479" cy="831465"/>
          </a:xfrm>
          <a:custGeom>
            <a:avLst/>
            <a:gdLst/>
            <a:ahLst/>
            <a:cxnLst/>
            <a:rect r="r" b="b" t="t" l="l"/>
            <a:pathLst>
              <a:path h="831465" w="4434479">
                <a:moveTo>
                  <a:pt x="0" y="0"/>
                </a:moveTo>
                <a:lnTo>
                  <a:pt x="4434479" y="0"/>
                </a:lnTo>
                <a:lnTo>
                  <a:pt x="4434479" y="831465"/>
                </a:lnTo>
                <a:lnTo>
                  <a:pt x="0" y="831465"/>
                </a:lnTo>
                <a:lnTo>
                  <a:pt x="0" y="0"/>
                </a:lnTo>
                <a:close/>
              </a:path>
            </a:pathLst>
          </a:custGeom>
          <a:blipFill>
            <a:blip r:embed="rId38"/>
            <a:stretch>
              <a:fillRect l="0" t="0" r="0" b="0"/>
            </a:stretch>
          </a:blipFill>
        </p:spPr>
      </p:sp>
      <p:sp>
        <p:nvSpPr>
          <p:cNvPr name="Freeform 137" id="137"/>
          <p:cNvSpPr/>
          <p:nvPr/>
        </p:nvSpPr>
        <p:spPr>
          <a:xfrm flipH="false" flipV="false" rot="0">
            <a:off x="28709904" y="20143186"/>
            <a:ext cx="724751" cy="833854"/>
          </a:xfrm>
          <a:custGeom>
            <a:avLst/>
            <a:gdLst/>
            <a:ahLst/>
            <a:cxnLst/>
            <a:rect r="r" b="b" t="t" l="l"/>
            <a:pathLst>
              <a:path h="833854" w="724751">
                <a:moveTo>
                  <a:pt x="0" y="0"/>
                </a:moveTo>
                <a:lnTo>
                  <a:pt x="724751" y="0"/>
                </a:lnTo>
                <a:lnTo>
                  <a:pt x="724751" y="833854"/>
                </a:lnTo>
                <a:lnTo>
                  <a:pt x="0" y="833854"/>
                </a:lnTo>
                <a:lnTo>
                  <a:pt x="0" y="0"/>
                </a:lnTo>
                <a:close/>
              </a:path>
            </a:pathLst>
          </a:custGeom>
          <a:blipFill>
            <a:blip r:embed="rId39"/>
            <a:stretch>
              <a:fillRect l="0" t="0" r="0" b="0"/>
            </a:stretch>
          </a:blipFill>
        </p:spPr>
      </p:sp>
      <p:sp>
        <p:nvSpPr>
          <p:cNvPr name="TextBox 138" id="138"/>
          <p:cNvSpPr txBox="true"/>
          <p:nvPr/>
        </p:nvSpPr>
        <p:spPr>
          <a:xfrm rot="0">
            <a:off x="1175433" y="9782029"/>
            <a:ext cx="3825659" cy="4010025"/>
          </a:xfrm>
          <a:prstGeom prst="rect">
            <a:avLst/>
          </a:prstGeom>
        </p:spPr>
        <p:txBody>
          <a:bodyPr anchor="t" rtlCol="false" tIns="0" lIns="0" bIns="0" rIns="0">
            <a:spAutoFit/>
          </a:bodyPr>
          <a:lstStyle/>
          <a:p>
            <a:pPr algn="l">
              <a:lnSpc>
                <a:spcPts val="2279"/>
              </a:lnSpc>
            </a:pPr>
            <a:r>
              <a:rPr lang="en-US" sz="1899" spc="-37">
                <a:solidFill>
                  <a:srgbClr val="404040"/>
                </a:solidFill>
                <a:latin typeface="Archivo Narrow"/>
                <a:ea typeface="Archivo Narrow"/>
                <a:cs typeface="Archivo Narrow"/>
                <a:sym typeface="Archivo Narrow"/>
              </a:rPr>
              <a:t>A liquid strip is placed beside the wall, as liquid can flow along the upstream pipe wall, and the swirl pushes it towards the separator wall. This lets us study wall-film formation and drainage. The strip is an assumed inlet profile.</a:t>
            </a:r>
          </a:p>
          <a:p>
            <a:pPr algn="l">
              <a:lnSpc>
                <a:spcPts val="2279"/>
              </a:lnSpc>
            </a:pPr>
            <a:r>
              <a:rPr lang="en-US" sz="1899" spc="-37">
                <a:solidFill>
                  <a:srgbClr val="404040"/>
                </a:solidFill>
                <a:latin typeface="Archivo Narrow"/>
                <a:ea typeface="Archivo Narrow"/>
                <a:cs typeface="Archivo Narrow"/>
                <a:sym typeface="Archivo Narrow"/>
              </a:rPr>
              <a:t>At 11.2 bar, the mass fraction is:</a:t>
            </a:r>
          </a:p>
          <a:p>
            <a:pPr algn="l">
              <a:lnSpc>
                <a:spcPts val="2279"/>
              </a:lnSpc>
            </a:pPr>
          </a:p>
          <a:p>
            <a:pPr algn="l">
              <a:lnSpc>
                <a:spcPts val="2279"/>
              </a:lnSpc>
            </a:pPr>
          </a:p>
          <a:p>
            <a:pPr algn="l">
              <a:lnSpc>
                <a:spcPts val="2279"/>
              </a:lnSpc>
            </a:pPr>
            <a:r>
              <a:rPr lang="en-US" sz="1899" spc="-37">
                <a:solidFill>
                  <a:srgbClr val="404040"/>
                </a:solidFill>
                <a:latin typeface="Archivo Narrow"/>
                <a:ea typeface="Archivo Narrow"/>
                <a:cs typeface="Archivo Narrow"/>
                <a:sym typeface="Archivo Narrow"/>
              </a:rPr>
              <a:t>Using the reference feed rate of 197.61 kg/s and enthalpy of 1600 kJ/kg.</a:t>
            </a:r>
          </a:p>
          <a:p>
            <a:pPr algn="l">
              <a:lnSpc>
                <a:spcPts val="2279"/>
              </a:lnSpc>
            </a:pPr>
          </a:p>
          <a:p>
            <a:pPr algn="l">
              <a:lnSpc>
                <a:spcPts val="2279"/>
              </a:lnSpc>
            </a:pPr>
          </a:p>
          <a:p>
            <a:pPr algn="l">
              <a:lnSpc>
                <a:spcPts val="2279"/>
              </a:lnSpc>
            </a:pPr>
          </a:p>
          <a:p>
            <a:pPr algn="l">
              <a:lnSpc>
                <a:spcPts val="2279"/>
              </a:lnSpc>
            </a:pPr>
          </a:p>
        </p:txBody>
      </p:sp>
      <p:grpSp>
        <p:nvGrpSpPr>
          <p:cNvPr name="Group 139" id="139"/>
          <p:cNvGrpSpPr/>
          <p:nvPr/>
        </p:nvGrpSpPr>
        <p:grpSpPr>
          <a:xfrm rot="0">
            <a:off x="1143000" y="11645590"/>
            <a:ext cx="3733315" cy="2485070"/>
            <a:chOff x="0" y="0"/>
            <a:chExt cx="4977754" cy="3313427"/>
          </a:xfrm>
        </p:grpSpPr>
        <p:sp>
          <p:nvSpPr>
            <p:cNvPr name="Freeform 140" id="140"/>
            <p:cNvSpPr/>
            <p:nvPr/>
          </p:nvSpPr>
          <p:spPr>
            <a:xfrm flipH="false" flipV="false" rot="0">
              <a:off x="0" y="1337125"/>
              <a:ext cx="4977754" cy="497775"/>
            </a:xfrm>
            <a:custGeom>
              <a:avLst/>
              <a:gdLst/>
              <a:ahLst/>
              <a:cxnLst/>
              <a:rect r="r" b="b" t="t" l="l"/>
              <a:pathLst>
                <a:path h="497775" w="4977754">
                  <a:moveTo>
                    <a:pt x="0" y="0"/>
                  </a:moveTo>
                  <a:lnTo>
                    <a:pt x="4977754" y="0"/>
                  </a:lnTo>
                  <a:lnTo>
                    <a:pt x="4977754" y="497776"/>
                  </a:lnTo>
                  <a:lnTo>
                    <a:pt x="0" y="497776"/>
                  </a:lnTo>
                  <a:lnTo>
                    <a:pt x="0" y="0"/>
                  </a:lnTo>
                  <a:close/>
                </a:path>
              </a:pathLst>
            </a:custGeom>
            <a:blipFill>
              <a:blip r:embed="rId40"/>
              <a:stretch>
                <a:fillRect l="0" t="0" r="0" b="0"/>
              </a:stretch>
            </a:blipFill>
          </p:spPr>
        </p:sp>
        <p:sp>
          <p:nvSpPr>
            <p:cNvPr name="Freeform 141" id="141"/>
            <p:cNvSpPr/>
            <p:nvPr/>
          </p:nvSpPr>
          <p:spPr>
            <a:xfrm flipH="false" flipV="false" rot="0">
              <a:off x="157800" y="0"/>
              <a:ext cx="3860997" cy="493848"/>
            </a:xfrm>
            <a:custGeom>
              <a:avLst/>
              <a:gdLst/>
              <a:ahLst/>
              <a:cxnLst/>
              <a:rect r="r" b="b" t="t" l="l"/>
              <a:pathLst>
                <a:path h="493848" w="3860997">
                  <a:moveTo>
                    <a:pt x="0" y="0"/>
                  </a:moveTo>
                  <a:lnTo>
                    <a:pt x="3860997" y="0"/>
                  </a:lnTo>
                  <a:lnTo>
                    <a:pt x="3860997" y="493848"/>
                  </a:lnTo>
                  <a:lnTo>
                    <a:pt x="0" y="493848"/>
                  </a:lnTo>
                  <a:lnTo>
                    <a:pt x="0" y="0"/>
                  </a:lnTo>
                  <a:close/>
                </a:path>
              </a:pathLst>
            </a:custGeom>
            <a:blipFill>
              <a:blip r:embed="rId41"/>
              <a:stretch>
                <a:fillRect l="-13883" t="-67723" r="-18833" b="-378962"/>
              </a:stretch>
            </a:blipFill>
          </p:spPr>
        </p:sp>
        <p:sp>
          <p:nvSpPr>
            <p:cNvPr name="Freeform 142" id="142"/>
            <p:cNvSpPr/>
            <p:nvPr/>
          </p:nvSpPr>
          <p:spPr>
            <a:xfrm flipH="false" flipV="false" rot="0">
              <a:off x="24464" y="2118765"/>
              <a:ext cx="4139587" cy="479755"/>
            </a:xfrm>
            <a:custGeom>
              <a:avLst/>
              <a:gdLst/>
              <a:ahLst/>
              <a:cxnLst/>
              <a:rect r="r" b="b" t="t" l="l"/>
              <a:pathLst>
                <a:path h="479755" w="4139587">
                  <a:moveTo>
                    <a:pt x="0" y="0"/>
                  </a:moveTo>
                  <a:lnTo>
                    <a:pt x="4139586" y="0"/>
                  </a:lnTo>
                  <a:lnTo>
                    <a:pt x="4139586" y="479755"/>
                  </a:lnTo>
                  <a:lnTo>
                    <a:pt x="0" y="479755"/>
                  </a:lnTo>
                  <a:lnTo>
                    <a:pt x="0" y="0"/>
                  </a:lnTo>
                  <a:close/>
                </a:path>
              </a:pathLst>
            </a:custGeom>
            <a:blipFill>
              <a:blip r:embed="rId41"/>
              <a:stretch>
                <a:fillRect l="-2422" t="-330959" r="-36554" b="-200854"/>
              </a:stretch>
            </a:blipFill>
          </p:spPr>
        </p:sp>
        <p:sp>
          <p:nvSpPr>
            <p:cNvPr name="Freeform 143" id="143"/>
            <p:cNvSpPr/>
            <p:nvPr/>
          </p:nvSpPr>
          <p:spPr>
            <a:xfrm flipH="false" flipV="false" rot="0">
              <a:off x="49903" y="1808447"/>
              <a:ext cx="2076900" cy="310318"/>
            </a:xfrm>
            <a:custGeom>
              <a:avLst/>
              <a:gdLst/>
              <a:ahLst/>
              <a:cxnLst/>
              <a:rect r="r" b="b" t="t" l="l"/>
              <a:pathLst>
                <a:path h="310318" w="2076900">
                  <a:moveTo>
                    <a:pt x="0" y="0"/>
                  </a:moveTo>
                  <a:lnTo>
                    <a:pt x="2076901" y="0"/>
                  </a:lnTo>
                  <a:lnTo>
                    <a:pt x="2076901" y="310318"/>
                  </a:lnTo>
                  <a:lnTo>
                    <a:pt x="0" y="310318"/>
                  </a:lnTo>
                  <a:lnTo>
                    <a:pt x="0" y="0"/>
                  </a:lnTo>
                  <a:close/>
                </a:path>
              </a:pathLst>
            </a:custGeom>
            <a:blipFill>
              <a:blip r:embed="rId41"/>
              <a:stretch>
                <a:fillRect l="-90757" t="-406058" r="-86246" b="-470732"/>
              </a:stretch>
            </a:blipFill>
          </p:spPr>
        </p:sp>
        <p:sp>
          <p:nvSpPr>
            <p:cNvPr name="Freeform 144" id="144"/>
            <p:cNvSpPr/>
            <p:nvPr/>
          </p:nvSpPr>
          <p:spPr>
            <a:xfrm flipH="false" flipV="false" rot="0">
              <a:off x="24464" y="2737027"/>
              <a:ext cx="1047763" cy="496600"/>
            </a:xfrm>
            <a:custGeom>
              <a:avLst/>
              <a:gdLst/>
              <a:ahLst/>
              <a:cxnLst/>
              <a:rect r="r" b="b" t="t" l="l"/>
              <a:pathLst>
                <a:path h="496600" w="1047763">
                  <a:moveTo>
                    <a:pt x="0" y="0"/>
                  </a:moveTo>
                  <a:lnTo>
                    <a:pt x="1047762" y="0"/>
                  </a:lnTo>
                  <a:lnTo>
                    <a:pt x="1047762" y="496601"/>
                  </a:lnTo>
                  <a:lnTo>
                    <a:pt x="0" y="496601"/>
                  </a:lnTo>
                  <a:lnTo>
                    <a:pt x="0" y="0"/>
                  </a:lnTo>
                  <a:close/>
                </a:path>
              </a:pathLst>
            </a:custGeom>
            <a:blipFill>
              <a:blip r:embed="rId41"/>
              <a:stretch>
                <a:fillRect l="-449083" t="-324848" r="0" b="-185533"/>
              </a:stretch>
            </a:blipFill>
          </p:spPr>
        </p:sp>
        <p:sp>
          <p:nvSpPr>
            <p:cNvPr name="Freeform 145" id="145"/>
            <p:cNvSpPr/>
            <p:nvPr/>
          </p:nvSpPr>
          <p:spPr>
            <a:xfrm flipH="false" flipV="false" rot="0">
              <a:off x="1166515" y="2641025"/>
              <a:ext cx="1951119" cy="344303"/>
            </a:xfrm>
            <a:custGeom>
              <a:avLst/>
              <a:gdLst/>
              <a:ahLst/>
              <a:cxnLst/>
              <a:rect r="r" b="b" t="t" l="l"/>
              <a:pathLst>
                <a:path h="344303" w="1951119">
                  <a:moveTo>
                    <a:pt x="0" y="0"/>
                  </a:moveTo>
                  <a:lnTo>
                    <a:pt x="1951119" y="0"/>
                  </a:lnTo>
                  <a:lnTo>
                    <a:pt x="1951119" y="344302"/>
                  </a:lnTo>
                  <a:lnTo>
                    <a:pt x="0" y="344302"/>
                  </a:lnTo>
                  <a:lnTo>
                    <a:pt x="0" y="0"/>
                  </a:lnTo>
                  <a:close/>
                </a:path>
              </a:pathLst>
            </a:custGeom>
            <a:blipFill>
              <a:blip r:embed="rId41"/>
              <a:stretch>
                <a:fillRect l="-17086" t="-576526" r="-149016" b="-117985"/>
              </a:stretch>
            </a:blipFill>
          </p:spPr>
        </p:sp>
        <p:sp>
          <p:nvSpPr>
            <p:cNvPr name="Freeform 146" id="146"/>
            <p:cNvSpPr/>
            <p:nvPr/>
          </p:nvSpPr>
          <p:spPr>
            <a:xfrm flipH="false" flipV="false" rot="0">
              <a:off x="1166515" y="3022537"/>
              <a:ext cx="1951119" cy="290889"/>
            </a:xfrm>
            <a:custGeom>
              <a:avLst/>
              <a:gdLst/>
              <a:ahLst/>
              <a:cxnLst/>
              <a:rect r="r" b="b" t="t" l="l"/>
              <a:pathLst>
                <a:path h="290889" w="1951119">
                  <a:moveTo>
                    <a:pt x="0" y="0"/>
                  </a:moveTo>
                  <a:lnTo>
                    <a:pt x="1951119" y="0"/>
                  </a:lnTo>
                  <a:lnTo>
                    <a:pt x="1951119" y="290890"/>
                  </a:lnTo>
                  <a:lnTo>
                    <a:pt x="0" y="290890"/>
                  </a:lnTo>
                  <a:lnTo>
                    <a:pt x="0" y="0"/>
                  </a:lnTo>
                  <a:close/>
                </a:path>
              </a:pathLst>
            </a:custGeom>
            <a:blipFill>
              <a:blip r:embed="rId41"/>
              <a:stretch>
                <a:fillRect l="-27068" t="-824490" r="-144856" b="-36486"/>
              </a:stretch>
            </a:blipFill>
          </p:spPr>
        </p:sp>
      </p:grpSp>
      <p:sp>
        <p:nvSpPr>
          <p:cNvPr name="TextBox 147" id="147"/>
          <p:cNvSpPr txBox="true"/>
          <p:nvPr/>
        </p:nvSpPr>
        <p:spPr>
          <a:xfrm rot="0">
            <a:off x="19541500" y="2971940"/>
            <a:ext cx="6131623"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Wall Liquid Interaction</a:t>
            </a:r>
          </a:p>
        </p:txBody>
      </p:sp>
      <p:sp>
        <p:nvSpPr>
          <p:cNvPr name="TextBox 148" id="148"/>
          <p:cNvSpPr txBox="true"/>
          <p:nvPr/>
        </p:nvSpPr>
        <p:spPr>
          <a:xfrm rot="0">
            <a:off x="1730597" y="783364"/>
            <a:ext cx="17903427" cy="2295525"/>
          </a:xfrm>
          <a:prstGeom prst="rect">
            <a:avLst/>
          </a:prstGeom>
        </p:spPr>
        <p:txBody>
          <a:bodyPr anchor="t" rtlCol="false" tIns="0" lIns="0" bIns="0" rIns="0">
            <a:spAutoFit/>
          </a:bodyPr>
          <a:lstStyle/>
          <a:p>
            <a:pPr algn="l" marL="0" indent="0" lvl="0">
              <a:lnSpc>
                <a:spcPts val="6000"/>
              </a:lnSpc>
              <a:spcBef>
                <a:spcPct val="0"/>
              </a:spcBef>
            </a:pPr>
            <a:r>
              <a:rPr lang="en-US" b="true" sz="5000">
                <a:solidFill>
                  <a:srgbClr val="FFFFFF"/>
                </a:solidFill>
                <a:latin typeface="Canva Sans Bold"/>
                <a:ea typeface="Canva Sans Bold"/>
                <a:cs typeface="Canva Sans Bold"/>
                <a:sym typeface="Canva Sans Bold"/>
              </a:rPr>
              <a:t>Project #60: Ge</a:t>
            </a:r>
            <a:r>
              <a:rPr lang="en-US" b="true" sz="5000" strike="noStrike" u="none">
                <a:solidFill>
                  <a:srgbClr val="FFFFFF"/>
                </a:solidFill>
                <a:latin typeface="Canva Sans Bold"/>
                <a:ea typeface="Canva Sans Bold"/>
                <a:cs typeface="Canva Sans Bold"/>
                <a:sym typeface="Canva Sans Bold"/>
              </a:rPr>
              <a:t>o</a:t>
            </a:r>
            <a:r>
              <a:rPr lang="en-US" b="true" sz="5000" strike="noStrike" u="none">
                <a:solidFill>
                  <a:srgbClr val="FFFFFF"/>
                </a:solidFill>
                <a:latin typeface="Canva Sans Bold"/>
                <a:ea typeface="Canva Sans Bold"/>
                <a:cs typeface="Canva Sans Bold"/>
                <a:sym typeface="Canva Sans Bold"/>
              </a:rPr>
              <a:t>th</a:t>
            </a:r>
            <a:r>
              <a:rPr lang="en-US" b="true" sz="5000" strike="noStrike" u="none">
                <a:solidFill>
                  <a:srgbClr val="FFFFFF"/>
                </a:solidFill>
                <a:latin typeface="Canva Sans Bold"/>
                <a:ea typeface="Canva Sans Bold"/>
                <a:cs typeface="Canva Sans Bold"/>
                <a:sym typeface="Canva Sans Bold"/>
              </a:rPr>
              <a:t>e</a:t>
            </a:r>
            <a:r>
              <a:rPr lang="en-US" b="true" sz="5000" strike="noStrike" u="none">
                <a:solidFill>
                  <a:srgbClr val="FFFFFF"/>
                </a:solidFill>
                <a:latin typeface="Canva Sans Bold"/>
                <a:ea typeface="Canva Sans Bold"/>
                <a:cs typeface="Canva Sans Bold"/>
                <a:sym typeface="Canva Sans Bold"/>
              </a:rPr>
              <a:t>rma</a:t>
            </a:r>
            <a:r>
              <a:rPr lang="en-US" b="true" sz="5000" strike="noStrike" u="none">
                <a:solidFill>
                  <a:srgbClr val="FFFFFF"/>
                </a:solidFill>
                <a:latin typeface="Canva Sans Bold"/>
                <a:ea typeface="Canva Sans Bold"/>
                <a:cs typeface="Canva Sans Bold"/>
                <a:sym typeface="Canva Sans Bold"/>
              </a:rPr>
              <a:t>l </a:t>
            </a:r>
            <a:r>
              <a:rPr lang="en-US" b="true" sz="5000" strike="noStrike" u="none">
                <a:solidFill>
                  <a:srgbClr val="FFFFFF"/>
                </a:solidFill>
                <a:latin typeface="Canva Sans Bold"/>
                <a:ea typeface="Canva Sans Bold"/>
                <a:cs typeface="Canva Sans Bold"/>
                <a:sym typeface="Canva Sans Bold"/>
              </a:rPr>
              <a:t>s</a:t>
            </a:r>
            <a:r>
              <a:rPr lang="en-US" b="true" sz="5000" strike="noStrike" u="none">
                <a:solidFill>
                  <a:srgbClr val="FFFFFF"/>
                </a:solidFill>
                <a:latin typeface="Canva Sans Bold"/>
                <a:ea typeface="Canva Sans Bold"/>
                <a:cs typeface="Canva Sans Bold"/>
                <a:sym typeface="Canva Sans Bold"/>
              </a:rPr>
              <a:t>team</a:t>
            </a:r>
            <a:r>
              <a:rPr lang="en-US" b="true" sz="5000" strike="noStrike" u="none">
                <a:solidFill>
                  <a:srgbClr val="FFFFFF"/>
                </a:solidFill>
                <a:latin typeface="Canva Sans Bold"/>
                <a:ea typeface="Canva Sans Bold"/>
                <a:cs typeface="Canva Sans Bold"/>
                <a:sym typeface="Canva Sans Bold"/>
              </a:rPr>
              <a:t>-w</a:t>
            </a:r>
            <a:r>
              <a:rPr lang="en-US" b="true" sz="5000" strike="noStrike" u="none">
                <a:solidFill>
                  <a:srgbClr val="FFFFFF"/>
                </a:solidFill>
                <a:latin typeface="Canva Sans Bold"/>
                <a:ea typeface="Canva Sans Bold"/>
                <a:cs typeface="Canva Sans Bold"/>
                <a:sym typeface="Canva Sans Bold"/>
              </a:rPr>
              <a:t>ater </a:t>
            </a:r>
            <a:r>
              <a:rPr lang="en-US" b="true" sz="5000" strike="noStrike" u="none">
                <a:solidFill>
                  <a:srgbClr val="FFFFFF"/>
                </a:solidFill>
                <a:latin typeface="Canva Sans Bold"/>
                <a:ea typeface="Canva Sans Bold"/>
                <a:cs typeface="Canva Sans Bold"/>
                <a:sym typeface="Canva Sans Bold"/>
              </a:rPr>
              <a:t>s</a:t>
            </a:r>
            <a:r>
              <a:rPr lang="en-US" b="true" sz="5000" strike="noStrike" u="none">
                <a:solidFill>
                  <a:srgbClr val="FFFFFF"/>
                </a:solidFill>
                <a:latin typeface="Canva Sans Bold"/>
                <a:ea typeface="Canva Sans Bold"/>
                <a:cs typeface="Canva Sans Bold"/>
                <a:sym typeface="Canva Sans Bold"/>
              </a:rPr>
              <a:t>eparato</a:t>
            </a:r>
            <a:r>
              <a:rPr lang="en-US" b="true" sz="5000" strike="noStrike" u="none">
                <a:solidFill>
                  <a:srgbClr val="FFFFFF"/>
                </a:solidFill>
                <a:latin typeface="Canva Sans Bold"/>
                <a:ea typeface="Canva Sans Bold"/>
                <a:cs typeface="Canva Sans Bold"/>
                <a:sym typeface="Canva Sans Bold"/>
              </a:rPr>
              <a:t>r </a:t>
            </a:r>
          </a:p>
          <a:p>
            <a:pPr algn="l" marL="0" indent="0" lvl="0">
              <a:lnSpc>
                <a:spcPts val="6000"/>
              </a:lnSpc>
              <a:spcBef>
                <a:spcPct val="0"/>
              </a:spcBef>
            </a:pPr>
            <a:r>
              <a:rPr lang="en-US" b="true" sz="5000" strike="noStrike" u="none">
                <a:solidFill>
                  <a:srgbClr val="FFFFFF"/>
                </a:solidFill>
                <a:latin typeface="Canva Sans Bold"/>
                <a:ea typeface="Canva Sans Bold"/>
                <a:cs typeface="Canva Sans Bold"/>
                <a:sym typeface="Canva Sans Bold"/>
              </a:rPr>
              <a:t>des</a:t>
            </a:r>
            <a:r>
              <a:rPr lang="en-US" b="true" sz="5000" strike="noStrike" u="none">
                <a:solidFill>
                  <a:srgbClr val="FFFFFF"/>
                </a:solidFill>
                <a:latin typeface="Canva Sans Bold"/>
                <a:ea typeface="Canva Sans Bold"/>
                <a:cs typeface="Canva Sans Bold"/>
                <a:sym typeface="Canva Sans Bold"/>
              </a:rPr>
              <a:t>i</a:t>
            </a:r>
            <a:r>
              <a:rPr lang="en-US" b="true" sz="5000" strike="noStrike" u="none">
                <a:solidFill>
                  <a:srgbClr val="FFFFFF"/>
                </a:solidFill>
                <a:latin typeface="Canva Sans Bold"/>
                <a:ea typeface="Canva Sans Bold"/>
                <a:cs typeface="Canva Sans Bold"/>
                <a:sym typeface="Canva Sans Bold"/>
              </a:rPr>
              <a:t>g</a:t>
            </a:r>
            <a:r>
              <a:rPr lang="en-US" b="true" sz="5000" strike="noStrike" u="none">
                <a:solidFill>
                  <a:srgbClr val="FFFFFF"/>
                </a:solidFill>
                <a:latin typeface="Canva Sans Bold"/>
                <a:ea typeface="Canva Sans Bold"/>
                <a:cs typeface="Canva Sans Bold"/>
                <a:sym typeface="Canva Sans Bold"/>
              </a:rPr>
              <a:t>n </a:t>
            </a:r>
            <a:r>
              <a:rPr lang="en-US" b="true" sz="5000" strike="noStrike" u="none">
                <a:solidFill>
                  <a:srgbClr val="FFFFFF"/>
                </a:solidFill>
                <a:latin typeface="Canva Sans Bold"/>
                <a:ea typeface="Canva Sans Bold"/>
                <a:cs typeface="Canva Sans Bold"/>
                <a:sym typeface="Canva Sans Bold"/>
              </a:rPr>
              <a:t>CFD m</a:t>
            </a:r>
            <a:r>
              <a:rPr lang="en-US" b="true" sz="5000" strike="noStrike" u="none">
                <a:solidFill>
                  <a:srgbClr val="FFFFFF"/>
                </a:solidFill>
                <a:latin typeface="Canva Sans Bold"/>
                <a:ea typeface="Canva Sans Bold"/>
                <a:cs typeface="Canva Sans Bold"/>
                <a:sym typeface="Canva Sans Bold"/>
              </a:rPr>
              <a:t>o</a:t>
            </a:r>
            <a:r>
              <a:rPr lang="en-US" b="true" sz="5000" strike="noStrike" u="none">
                <a:solidFill>
                  <a:srgbClr val="FFFFFF"/>
                </a:solidFill>
                <a:latin typeface="Canva Sans Bold"/>
                <a:ea typeface="Canva Sans Bold"/>
                <a:cs typeface="Canva Sans Bold"/>
                <a:sym typeface="Canva Sans Bold"/>
              </a:rPr>
              <a:t>d</a:t>
            </a:r>
            <a:r>
              <a:rPr lang="en-US" b="true" sz="5000" strike="noStrike" u="none">
                <a:solidFill>
                  <a:srgbClr val="FFFFFF"/>
                </a:solidFill>
                <a:latin typeface="Canva Sans Bold"/>
                <a:ea typeface="Canva Sans Bold"/>
                <a:cs typeface="Canva Sans Bold"/>
                <a:sym typeface="Canva Sans Bold"/>
              </a:rPr>
              <a:t>ell</a:t>
            </a:r>
            <a:r>
              <a:rPr lang="en-US" b="true" sz="5000" strike="noStrike" u="none">
                <a:solidFill>
                  <a:srgbClr val="FFFFFF"/>
                </a:solidFill>
                <a:latin typeface="Canva Sans Bold"/>
                <a:ea typeface="Canva Sans Bold"/>
                <a:cs typeface="Canva Sans Bold"/>
                <a:sym typeface="Canva Sans Bold"/>
              </a:rPr>
              <a:t>ing a</a:t>
            </a:r>
            <a:r>
              <a:rPr lang="en-US" b="true" sz="5000" strike="noStrike" u="none">
                <a:solidFill>
                  <a:srgbClr val="FFFFFF"/>
                </a:solidFill>
                <a:latin typeface="Canva Sans Bold"/>
                <a:ea typeface="Canva Sans Bold"/>
                <a:cs typeface="Canva Sans Bold"/>
                <a:sym typeface="Canva Sans Bold"/>
              </a:rPr>
              <a:t>n</a:t>
            </a:r>
            <a:r>
              <a:rPr lang="en-US" b="true" sz="5000" strike="noStrike" u="none">
                <a:solidFill>
                  <a:srgbClr val="FFFFFF"/>
                </a:solidFill>
                <a:latin typeface="Canva Sans Bold"/>
                <a:ea typeface="Canva Sans Bold"/>
                <a:cs typeface="Canva Sans Bold"/>
                <a:sym typeface="Canva Sans Bold"/>
              </a:rPr>
              <a:t>d</a:t>
            </a:r>
            <a:r>
              <a:rPr lang="en-US" b="true" sz="5000" strike="noStrike" u="none">
                <a:solidFill>
                  <a:srgbClr val="FFFFFF"/>
                </a:solidFill>
                <a:latin typeface="Canva Sans Bold"/>
                <a:ea typeface="Canva Sans Bold"/>
                <a:cs typeface="Canva Sans Bold"/>
                <a:sym typeface="Canva Sans Bold"/>
              </a:rPr>
              <a:t> </a:t>
            </a:r>
            <a:r>
              <a:rPr lang="en-US" b="true" sz="5000" strike="noStrike" u="none">
                <a:solidFill>
                  <a:srgbClr val="FFFFFF"/>
                </a:solidFill>
                <a:latin typeface="Canva Sans Bold"/>
                <a:ea typeface="Canva Sans Bold"/>
                <a:cs typeface="Canva Sans Bold"/>
                <a:sym typeface="Canva Sans Bold"/>
              </a:rPr>
              <a:t>o</a:t>
            </a:r>
            <a:r>
              <a:rPr lang="en-US" b="true" sz="5000" strike="noStrike" u="none">
                <a:solidFill>
                  <a:srgbClr val="FFFFFF"/>
                </a:solidFill>
                <a:latin typeface="Canva Sans Bold"/>
                <a:ea typeface="Canva Sans Bold"/>
                <a:cs typeface="Canva Sans Bold"/>
                <a:sym typeface="Canva Sans Bold"/>
              </a:rPr>
              <a:t>pt</a:t>
            </a:r>
            <a:r>
              <a:rPr lang="en-US" b="true" sz="5000" strike="noStrike" u="none">
                <a:solidFill>
                  <a:srgbClr val="FFFFFF"/>
                </a:solidFill>
                <a:latin typeface="Canva Sans Bold"/>
                <a:ea typeface="Canva Sans Bold"/>
                <a:cs typeface="Canva Sans Bold"/>
                <a:sym typeface="Canva Sans Bold"/>
              </a:rPr>
              <a:t>imi</a:t>
            </a:r>
            <a:r>
              <a:rPr lang="en-US" b="true" sz="5000" strike="noStrike" u="none">
                <a:solidFill>
                  <a:srgbClr val="FFFFFF"/>
                </a:solidFill>
                <a:latin typeface="Canva Sans Bold"/>
                <a:ea typeface="Canva Sans Bold"/>
                <a:cs typeface="Canva Sans Bold"/>
                <a:sym typeface="Canva Sans Bold"/>
              </a:rPr>
              <a:t>s</a:t>
            </a:r>
            <a:r>
              <a:rPr lang="en-US" b="true" sz="5000" strike="noStrike" u="none">
                <a:solidFill>
                  <a:srgbClr val="FFFFFF"/>
                </a:solidFill>
                <a:latin typeface="Canva Sans Bold"/>
                <a:ea typeface="Canva Sans Bold"/>
                <a:cs typeface="Canva Sans Bold"/>
                <a:sym typeface="Canva Sans Bold"/>
              </a:rPr>
              <a:t>ing</a:t>
            </a:r>
          </a:p>
          <a:p>
            <a:pPr algn="l" marL="0" indent="0" lvl="0">
              <a:lnSpc>
                <a:spcPts val="6000"/>
              </a:lnSpc>
              <a:spcBef>
                <a:spcPct val="0"/>
              </a:spcBef>
            </a:pPr>
          </a:p>
        </p:txBody>
      </p:sp>
      <p:grpSp>
        <p:nvGrpSpPr>
          <p:cNvPr name="Group 149" id="149"/>
          <p:cNvGrpSpPr/>
          <p:nvPr/>
        </p:nvGrpSpPr>
        <p:grpSpPr>
          <a:xfrm rot="0">
            <a:off x="14862010" y="3048140"/>
            <a:ext cx="4018103" cy="7749497"/>
            <a:chOff x="0" y="0"/>
            <a:chExt cx="5357471" cy="10332662"/>
          </a:xfrm>
        </p:grpSpPr>
        <p:grpSp>
          <p:nvGrpSpPr>
            <p:cNvPr name="Group 150" id="150"/>
            <p:cNvGrpSpPr/>
            <p:nvPr/>
          </p:nvGrpSpPr>
          <p:grpSpPr>
            <a:xfrm rot="0">
              <a:off x="0" y="0"/>
              <a:ext cx="5357471" cy="10332662"/>
              <a:chOff x="0" y="0"/>
              <a:chExt cx="1250464" cy="2411706"/>
            </a:xfrm>
          </p:grpSpPr>
          <p:sp>
            <p:nvSpPr>
              <p:cNvPr name="Freeform 151" id="151"/>
              <p:cNvSpPr/>
              <p:nvPr/>
            </p:nvSpPr>
            <p:spPr>
              <a:xfrm flipH="false" flipV="false" rot="0">
                <a:off x="0" y="0"/>
                <a:ext cx="1250463" cy="2411706"/>
              </a:xfrm>
              <a:custGeom>
                <a:avLst/>
                <a:gdLst/>
                <a:ahLst/>
                <a:cxnLst/>
                <a:rect r="r" b="b" t="t" l="l"/>
                <a:pathLst>
                  <a:path h="2411706" w="1250463">
                    <a:moveTo>
                      <a:pt x="1250463" y="57803"/>
                    </a:moveTo>
                    <a:lnTo>
                      <a:pt x="1250463" y="2353903"/>
                    </a:lnTo>
                    <a:cubicBezTo>
                      <a:pt x="1250463" y="2369233"/>
                      <a:pt x="1244374" y="2383935"/>
                      <a:pt x="1233533" y="2394776"/>
                    </a:cubicBezTo>
                    <a:cubicBezTo>
                      <a:pt x="1222693" y="2405616"/>
                      <a:pt x="1207991" y="2411706"/>
                      <a:pt x="1192661" y="2411706"/>
                    </a:cubicBezTo>
                    <a:lnTo>
                      <a:pt x="57803" y="2411706"/>
                    </a:lnTo>
                    <a:cubicBezTo>
                      <a:pt x="25879" y="2411706"/>
                      <a:pt x="0" y="2385826"/>
                      <a:pt x="0" y="2353903"/>
                    </a:cubicBezTo>
                    <a:lnTo>
                      <a:pt x="0" y="57803"/>
                    </a:lnTo>
                    <a:cubicBezTo>
                      <a:pt x="0" y="25879"/>
                      <a:pt x="25879" y="0"/>
                      <a:pt x="57803" y="0"/>
                    </a:cubicBezTo>
                    <a:lnTo>
                      <a:pt x="1192661" y="0"/>
                    </a:lnTo>
                    <a:cubicBezTo>
                      <a:pt x="1224584" y="0"/>
                      <a:pt x="1250463" y="25879"/>
                      <a:pt x="1250463" y="57803"/>
                    </a:cubicBezTo>
                    <a:close/>
                  </a:path>
                </a:pathLst>
              </a:custGeom>
              <a:solidFill>
                <a:srgbClr val="F0F6FA">
                  <a:alpha val="74902"/>
                </a:srgbClr>
              </a:solidFill>
              <a:ln cap="rnd">
                <a:noFill/>
                <a:prstDash val="solid"/>
                <a:round/>
              </a:ln>
            </p:spPr>
          </p:sp>
          <p:sp>
            <p:nvSpPr>
              <p:cNvPr name="TextBox 152" id="152"/>
              <p:cNvSpPr txBox="true"/>
              <p:nvPr/>
            </p:nvSpPr>
            <p:spPr>
              <a:xfrm>
                <a:off x="0" y="-9525"/>
                <a:ext cx="1250464" cy="2421231"/>
              </a:xfrm>
              <a:prstGeom prst="rect">
                <a:avLst/>
              </a:prstGeom>
            </p:spPr>
            <p:txBody>
              <a:bodyPr anchor="ctr" rtlCol="false" tIns="50800" lIns="50800" bIns="50800" rIns="50800"/>
              <a:lstStyle/>
              <a:p>
                <a:pPr algn="ctr">
                  <a:lnSpc>
                    <a:spcPts val="4139"/>
                  </a:lnSpc>
                </a:pPr>
              </a:p>
            </p:txBody>
          </p:sp>
        </p:grpSp>
        <p:sp>
          <p:nvSpPr>
            <p:cNvPr name="TextBox 153" id="153"/>
            <p:cNvSpPr txBox="true"/>
            <p:nvPr/>
          </p:nvSpPr>
          <p:spPr>
            <a:xfrm rot="0">
              <a:off x="216464" y="295344"/>
              <a:ext cx="4742806" cy="6486525"/>
            </a:xfrm>
            <a:prstGeom prst="rect">
              <a:avLst/>
            </a:prstGeom>
          </p:spPr>
          <p:txBody>
            <a:bodyPr anchor="t" rtlCol="false" tIns="0" lIns="0" bIns="0" rIns="0">
              <a:spAutoFit/>
            </a:bodyPr>
            <a:lstStyle/>
            <a:p>
              <a:pPr algn="l">
                <a:lnSpc>
                  <a:spcPts val="2279"/>
                </a:lnSpc>
              </a:pPr>
              <a:r>
                <a:rPr lang="en-US" sz="1899" spc="-37" b="true">
                  <a:solidFill>
                    <a:srgbClr val="404040"/>
                  </a:solidFill>
                  <a:latin typeface="Archivo Narrow Bold"/>
                  <a:ea typeface="Archivo Narrow Bold"/>
                  <a:cs typeface="Archivo Narrow Bold"/>
                  <a:sym typeface="Archivo Narrow Bold"/>
                </a:rPr>
                <a:t>Fluent Solver Settings:</a:t>
              </a:r>
            </a:p>
            <a:p>
              <a:pPr algn="l">
                <a:lnSpc>
                  <a:spcPts val="2279"/>
                </a:lnSpc>
              </a:pPr>
              <a:r>
                <a:rPr lang="en-US" sz="1899" spc="-37">
                  <a:solidFill>
                    <a:srgbClr val="404040"/>
                  </a:solidFill>
                  <a:latin typeface="Archivo Narrow"/>
                  <a:ea typeface="Archivo Narrow"/>
                  <a:cs typeface="Archivo Narrow"/>
                  <a:sym typeface="Archivo Narrow"/>
                </a:rPr>
                <a:t>Bulk Solver: </a:t>
              </a:r>
            </a:p>
            <a:p>
              <a:pPr algn="l" marL="410209" indent="-205105" lvl="1">
                <a:lnSpc>
                  <a:spcPts val="2279"/>
                </a:lnSpc>
                <a:buFont typeface="Arial"/>
                <a:buChar char="•"/>
              </a:pPr>
              <a:r>
                <a:rPr lang="en-US" sz="1899" spc="-37">
                  <a:solidFill>
                    <a:srgbClr val="404040"/>
                  </a:solidFill>
                  <a:latin typeface="Archivo Narrow"/>
                  <a:ea typeface="Archivo Narrow"/>
                  <a:cs typeface="Archivo Narrow"/>
                  <a:sym typeface="Archivo Narrow"/>
                </a:rPr>
                <a:t>Pressure-based, steady, absolute velocity formulation</a:t>
              </a:r>
            </a:p>
            <a:p>
              <a:pPr algn="l">
                <a:lnSpc>
                  <a:spcPts val="2279"/>
                </a:lnSpc>
              </a:pPr>
              <a:r>
                <a:rPr lang="en-US" sz="1899" spc="-37">
                  <a:solidFill>
                    <a:srgbClr val="404040"/>
                  </a:solidFill>
                  <a:latin typeface="Archivo Narrow"/>
                  <a:ea typeface="Archivo Narrow"/>
                  <a:cs typeface="Archivo Narrow"/>
                  <a:sym typeface="Archivo Narrow"/>
                </a:rPr>
                <a:t>Pressure–velocity coupling:</a:t>
              </a:r>
            </a:p>
            <a:p>
              <a:pPr algn="l" marL="410209" indent="-205105" lvl="1">
                <a:lnSpc>
                  <a:spcPts val="2279"/>
                </a:lnSpc>
                <a:buFont typeface="Arial"/>
                <a:buChar char="•"/>
              </a:pPr>
              <a:r>
                <a:rPr lang="en-US" sz="1899" spc="-37">
                  <a:solidFill>
                    <a:srgbClr val="404040"/>
                  </a:solidFill>
                  <a:latin typeface="Archivo Narrow"/>
                  <a:ea typeface="Archivo Narrow"/>
                  <a:cs typeface="Archivo Narrow"/>
                  <a:sym typeface="Archivo Narrow"/>
                </a:rPr>
                <a:t>Coupled</a:t>
              </a:r>
            </a:p>
            <a:p>
              <a:pPr algn="l">
                <a:lnSpc>
                  <a:spcPts val="2279"/>
                </a:lnSpc>
              </a:pPr>
              <a:r>
                <a:rPr lang="en-US" sz="1899" spc="-37">
                  <a:solidFill>
                    <a:srgbClr val="404040"/>
                  </a:solidFill>
                  <a:latin typeface="Archivo Narrow"/>
                  <a:ea typeface="Archivo Narrow"/>
                  <a:cs typeface="Archivo Narrow"/>
                  <a:sym typeface="Archivo Narrow"/>
                </a:rPr>
                <a:t>Multiphase Model:</a:t>
              </a:r>
            </a:p>
            <a:p>
              <a:pPr algn="l" marL="410209" indent="-205105" lvl="1">
                <a:lnSpc>
                  <a:spcPts val="2279"/>
                </a:lnSpc>
                <a:buFont typeface="Arial"/>
                <a:buChar char="•"/>
              </a:pPr>
              <a:r>
                <a:rPr lang="en-US" sz="1899" spc="-37">
                  <a:solidFill>
                    <a:srgbClr val="404040"/>
                  </a:solidFill>
                  <a:latin typeface="Archivo Narrow"/>
                  <a:ea typeface="Archivo Narrow"/>
                  <a:cs typeface="Archivo Narrow"/>
                  <a:sym typeface="Archivo Narrow"/>
                </a:rPr>
                <a:t>Mixture, Steam-liquid phases</a:t>
              </a:r>
            </a:p>
            <a:p>
              <a:pPr algn="l">
                <a:lnSpc>
                  <a:spcPts val="2279"/>
                </a:lnSpc>
              </a:pPr>
              <a:r>
                <a:rPr lang="en-US" sz="1899" spc="-37">
                  <a:solidFill>
                    <a:srgbClr val="404040"/>
                  </a:solidFill>
                  <a:latin typeface="Archivo Narrow"/>
                  <a:ea typeface="Archivo Narrow"/>
                  <a:cs typeface="Archivo Narrow"/>
                  <a:sym typeface="Archivo Narrow"/>
                </a:rPr>
                <a:t>Turbulance:</a:t>
              </a:r>
            </a:p>
            <a:p>
              <a:pPr algn="l" marL="410209" indent="-205105" lvl="1">
                <a:lnSpc>
                  <a:spcPts val="2279"/>
                </a:lnSpc>
                <a:buFont typeface="Arial"/>
                <a:buChar char="•"/>
              </a:pPr>
              <a:r>
                <a:rPr lang="en-US" sz="1899" spc="-37">
                  <a:solidFill>
                    <a:srgbClr val="404040"/>
                  </a:solidFill>
                  <a:latin typeface="Archivo Narrow"/>
                  <a:ea typeface="Archivo Narrow"/>
                  <a:cs typeface="Archivo Narrow"/>
                  <a:sym typeface="Archivo Narrow"/>
                </a:rPr>
                <a:t>RNG k-e, differential viscosity, swirl correction ON, compressibility correction ON</a:t>
              </a:r>
            </a:p>
            <a:p>
              <a:pPr algn="l" marL="410209" indent="-205105" lvl="1">
                <a:lnSpc>
                  <a:spcPts val="2279"/>
                </a:lnSpc>
                <a:buFont typeface="Arial"/>
                <a:buChar char="•"/>
              </a:pPr>
              <a:r>
                <a:rPr lang="en-US" sz="1899" spc="-37">
                  <a:solidFill>
                    <a:srgbClr val="404040"/>
                  </a:solidFill>
                  <a:latin typeface="Archivo Narrow"/>
                  <a:ea typeface="Archivo Narrow"/>
                  <a:cs typeface="Archivo Narrow"/>
                  <a:sym typeface="Archivo Narrow"/>
                </a:rPr>
                <a:t>RE ≈ 7.4 × 10</a:t>
              </a:r>
              <a:r>
                <a:rPr lang="en-US" sz="1899" spc="-37">
                  <a:solidFill>
                    <a:srgbClr val="404040"/>
                  </a:solidFill>
                  <a:latin typeface="Archivo Narrow"/>
                  <a:ea typeface="Archivo Narrow"/>
                  <a:cs typeface="Archivo Narrow"/>
                  <a:sym typeface="Archivo Narrow"/>
                </a:rPr>
                <a:t>6</a:t>
              </a:r>
            </a:p>
            <a:p>
              <a:pPr algn="l">
                <a:lnSpc>
                  <a:spcPts val="2279"/>
                </a:lnSpc>
              </a:pPr>
              <a:r>
                <a:rPr lang="en-US" sz="1899" spc="-37">
                  <a:solidFill>
                    <a:srgbClr val="404040"/>
                  </a:solidFill>
                  <a:latin typeface="Archivo Narrow"/>
                  <a:ea typeface="Archivo Narrow"/>
                  <a:cs typeface="Archivo Narrow"/>
                  <a:sym typeface="Archivo Narrow"/>
                </a:rPr>
                <a:t>Near Wall Treatment:</a:t>
              </a:r>
            </a:p>
            <a:p>
              <a:pPr algn="l" marL="410209" indent="-205105" lvl="1">
                <a:lnSpc>
                  <a:spcPts val="2279"/>
                </a:lnSpc>
                <a:buFont typeface="Arial"/>
                <a:buChar char="•"/>
              </a:pPr>
              <a:r>
                <a:rPr lang="en-US" sz="1899" spc="-37">
                  <a:solidFill>
                    <a:srgbClr val="404040"/>
                  </a:solidFill>
                  <a:latin typeface="Archivo Narrow"/>
                  <a:ea typeface="Archivo Narrow"/>
                  <a:cs typeface="Archivo Narrow"/>
                  <a:sym typeface="Archivo Narrow"/>
                </a:rPr>
                <a:t>Standard wall functions</a:t>
              </a:r>
            </a:p>
            <a:p>
              <a:pPr algn="l">
                <a:lnSpc>
                  <a:spcPts val="2279"/>
                </a:lnSpc>
              </a:pPr>
              <a:r>
                <a:rPr lang="en-US" sz="1899" spc="-37">
                  <a:solidFill>
                    <a:srgbClr val="404040"/>
                  </a:solidFill>
                  <a:latin typeface="Archivo Narrow"/>
                  <a:ea typeface="Archivo Narrow"/>
                  <a:cs typeface="Archivo Narrow"/>
                  <a:sym typeface="Archivo Narrow"/>
                </a:rPr>
                <a:t>Wall Roughness:</a:t>
              </a:r>
            </a:p>
            <a:p>
              <a:pPr algn="l" marL="410209" indent="-205105" lvl="1">
                <a:lnSpc>
                  <a:spcPts val="2279"/>
                </a:lnSpc>
                <a:buFont typeface="Arial"/>
                <a:buChar char="•"/>
              </a:pPr>
              <a:r>
                <a:rPr lang="en-US" sz="1899" spc="-38">
                  <a:solidFill>
                    <a:srgbClr val="404040"/>
                  </a:solidFill>
                  <a:latin typeface="Archivo Narrow"/>
                  <a:ea typeface="Archivo Narrow"/>
                  <a:cs typeface="Archivo Narrow"/>
                  <a:sym typeface="Archivo Narrow"/>
                </a:rPr>
                <a:t>Commercial Steel (0,045mm)</a:t>
              </a:r>
            </a:p>
          </p:txBody>
        </p:sp>
      </p:grpSp>
      <p:grpSp>
        <p:nvGrpSpPr>
          <p:cNvPr name="Group 154" id="154"/>
          <p:cNvGrpSpPr/>
          <p:nvPr/>
        </p:nvGrpSpPr>
        <p:grpSpPr>
          <a:xfrm rot="0">
            <a:off x="25343140" y="11849302"/>
            <a:ext cx="3532893" cy="2379413"/>
            <a:chOff x="0" y="0"/>
            <a:chExt cx="2379198" cy="1602400"/>
          </a:xfrm>
        </p:grpSpPr>
        <p:sp>
          <p:nvSpPr>
            <p:cNvPr name="Freeform 155" id="155"/>
            <p:cNvSpPr/>
            <p:nvPr/>
          </p:nvSpPr>
          <p:spPr>
            <a:xfrm flipH="false" flipV="false" rot="0">
              <a:off x="0" y="0"/>
              <a:ext cx="2379199" cy="1602400"/>
            </a:xfrm>
            <a:custGeom>
              <a:avLst/>
              <a:gdLst/>
              <a:ahLst/>
              <a:cxnLst/>
              <a:rect r="r" b="b" t="t" l="l"/>
              <a:pathLst>
                <a:path h="1602400" w="2379199">
                  <a:moveTo>
                    <a:pt x="2379199" y="65741"/>
                  </a:moveTo>
                  <a:lnTo>
                    <a:pt x="2379199" y="1536659"/>
                  </a:lnTo>
                  <a:cubicBezTo>
                    <a:pt x="2379199" y="1554094"/>
                    <a:pt x="2372272" y="1570816"/>
                    <a:pt x="2359943" y="1583145"/>
                  </a:cubicBezTo>
                  <a:cubicBezTo>
                    <a:pt x="2347614" y="1595474"/>
                    <a:pt x="2330893" y="1602400"/>
                    <a:pt x="2313457" y="1602400"/>
                  </a:cubicBezTo>
                  <a:lnTo>
                    <a:pt x="65741" y="1602400"/>
                  </a:lnTo>
                  <a:cubicBezTo>
                    <a:pt x="48306" y="1602400"/>
                    <a:pt x="31584" y="1595474"/>
                    <a:pt x="19255" y="1583145"/>
                  </a:cubicBezTo>
                  <a:cubicBezTo>
                    <a:pt x="6926" y="1570816"/>
                    <a:pt x="0" y="1554094"/>
                    <a:pt x="0" y="1536659"/>
                  </a:cubicBezTo>
                  <a:lnTo>
                    <a:pt x="0" y="65741"/>
                  </a:lnTo>
                  <a:cubicBezTo>
                    <a:pt x="0" y="48306"/>
                    <a:pt x="6926" y="31584"/>
                    <a:pt x="19255" y="19255"/>
                  </a:cubicBezTo>
                  <a:cubicBezTo>
                    <a:pt x="31584" y="6926"/>
                    <a:pt x="48306" y="0"/>
                    <a:pt x="65741" y="0"/>
                  </a:cubicBezTo>
                  <a:lnTo>
                    <a:pt x="2313457" y="0"/>
                  </a:lnTo>
                  <a:cubicBezTo>
                    <a:pt x="2330893" y="0"/>
                    <a:pt x="2347614" y="6926"/>
                    <a:pt x="2359943" y="19255"/>
                  </a:cubicBezTo>
                  <a:cubicBezTo>
                    <a:pt x="2372272" y="31584"/>
                    <a:pt x="2379199" y="48306"/>
                    <a:pt x="2379199" y="65741"/>
                  </a:cubicBezTo>
                  <a:close/>
                </a:path>
              </a:pathLst>
            </a:custGeom>
            <a:solidFill>
              <a:srgbClr val="F0F6FA">
                <a:alpha val="74902"/>
              </a:srgbClr>
            </a:solidFill>
            <a:ln cap="rnd">
              <a:noFill/>
              <a:prstDash val="solid"/>
              <a:round/>
            </a:ln>
          </p:spPr>
        </p:sp>
        <p:sp>
          <p:nvSpPr>
            <p:cNvPr name="TextBox 156" id="156"/>
            <p:cNvSpPr txBox="true"/>
            <p:nvPr/>
          </p:nvSpPr>
          <p:spPr>
            <a:xfrm>
              <a:off x="0" y="-9525"/>
              <a:ext cx="2379198" cy="1611925"/>
            </a:xfrm>
            <a:prstGeom prst="rect">
              <a:avLst/>
            </a:prstGeom>
          </p:spPr>
          <p:txBody>
            <a:bodyPr anchor="ctr" rtlCol="false" tIns="31580" lIns="31580" bIns="31580" rIns="31580"/>
            <a:lstStyle/>
            <a:p>
              <a:pPr algn="ctr">
                <a:lnSpc>
                  <a:spcPts val="4140"/>
                </a:lnSpc>
              </a:pPr>
            </a:p>
          </p:txBody>
        </p:sp>
      </p:grpSp>
      <p:sp>
        <p:nvSpPr>
          <p:cNvPr name="Freeform 157" id="157"/>
          <p:cNvSpPr/>
          <p:nvPr/>
        </p:nvSpPr>
        <p:spPr>
          <a:xfrm flipH="false" flipV="false" rot="0">
            <a:off x="25673123" y="10005115"/>
            <a:ext cx="2808527" cy="1740066"/>
          </a:xfrm>
          <a:custGeom>
            <a:avLst/>
            <a:gdLst/>
            <a:ahLst/>
            <a:cxnLst/>
            <a:rect r="r" b="b" t="t" l="l"/>
            <a:pathLst>
              <a:path h="1740066" w="2808527">
                <a:moveTo>
                  <a:pt x="0" y="0"/>
                </a:moveTo>
                <a:lnTo>
                  <a:pt x="2808528" y="0"/>
                </a:lnTo>
                <a:lnTo>
                  <a:pt x="2808528" y="1740066"/>
                </a:lnTo>
                <a:lnTo>
                  <a:pt x="0" y="1740066"/>
                </a:lnTo>
                <a:lnTo>
                  <a:pt x="0" y="0"/>
                </a:lnTo>
                <a:close/>
              </a:path>
            </a:pathLst>
          </a:custGeom>
          <a:blipFill>
            <a:blip r:embed="rId42"/>
            <a:stretch>
              <a:fillRect l="0" t="0" r="0" b="0"/>
            </a:stretch>
          </a:blipFill>
        </p:spPr>
      </p:sp>
      <p:grpSp>
        <p:nvGrpSpPr>
          <p:cNvPr name="Group 158" id="158"/>
          <p:cNvGrpSpPr/>
          <p:nvPr/>
        </p:nvGrpSpPr>
        <p:grpSpPr>
          <a:xfrm rot="0">
            <a:off x="13572332" y="15345027"/>
            <a:ext cx="2380144" cy="4763831"/>
            <a:chOff x="0" y="0"/>
            <a:chExt cx="3173525" cy="6351775"/>
          </a:xfrm>
        </p:grpSpPr>
        <p:grpSp>
          <p:nvGrpSpPr>
            <p:cNvPr name="Group 159" id="159"/>
            <p:cNvGrpSpPr/>
            <p:nvPr/>
          </p:nvGrpSpPr>
          <p:grpSpPr>
            <a:xfrm rot="0">
              <a:off x="0" y="0"/>
              <a:ext cx="3173525" cy="6351775"/>
              <a:chOff x="0" y="0"/>
              <a:chExt cx="1523466" cy="3049206"/>
            </a:xfrm>
          </p:grpSpPr>
          <p:sp>
            <p:nvSpPr>
              <p:cNvPr name="Freeform 160" id="160"/>
              <p:cNvSpPr/>
              <p:nvPr/>
            </p:nvSpPr>
            <p:spPr>
              <a:xfrm flipH="false" flipV="false" rot="0">
                <a:off x="0" y="0"/>
                <a:ext cx="1523466" cy="3049206"/>
              </a:xfrm>
              <a:custGeom>
                <a:avLst/>
                <a:gdLst/>
                <a:ahLst/>
                <a:cxnLst/>
                <a:rect r="r" b="b" t="t" l="l"/>
                <a:pathLst>
                  <a:path h="3049206" w="1523466">
                    <a:moveTo>
                      <a:pt x="1523466" y="94893"/>
                    </a:moveTo>
                    <a:lnTo>
                      <a:pt x="1523466" y="2954312"/>
                    </a:lnTo>
                    <a:cubicBezTo>
                      <a:pt x="1523466" y="3006721"/>
                      <a:pt x="1480981" y="3049206"/>
                      <a:pt x="1428572" y="3049206"/>
                    </a:cubicBezTo>
                    <a:lnTo>
                      <a:pt x="94893" y="3049206"/>
                    </a:lnTo>
                    <a:cubicBezTo>
                      <a:pt x="42485" y="3049206"/>
                      <a:pt x="0" y="3006721"/>
                      <a:pt x="0" y="2954312"/>
                    </a:cubicBezTo>
                    <a:lnTo>
                      <a:pt x="0" y="94893"/>
                    </a:lnTo>
                    <a:cubicBezTo>
                      <a:pt x="0" y="42485"/>
                      <a:pt x="42485" y="0"/>
                      <a:pt x="94893" y="0"/>
                    </a:cubicBezTo>
                    <a:lnTo>
                      <a:pt x="1428572" y="0"/>
                    </a:lnTo>
                    <a:cubicBezTo>
                      <a:pt x="1480981" y="0"/>
                      <a:pt x="1523466" y="42485"/>
                      <a:pt x="1523466" y="94893"/>
                    </a:cubicBezTo>
                    <a:close/>
                  </a:path>
                </a:pathLst>
              </a:custGeom>
              <a:solidFill>
                <a:srgbClr val="F0F6FA"/>
              </a:solidFill>
              <a:ln cap="rnd">
                <a:noFill/>
                <a:prstDash val="solid"/>
                <a:round/>
              </a:ln>
            </p:spPr>
          </p:sp>
          <p:sp>
            <p:nvSpPr>
              <p:cNvPr name="TextBox 161" id="161"/>
              <p:cNvSpPr txBox="true"/>
              <p:nvPr/>
            </p:nvSpPr>
            <p:spPr>
              <a:xfrm>
                <a:off x="0" y="-9525"/>
                <a:ext cx="1523466" cy="3058731"/>
              </a:xfrm>
              <a:prstGeom prst="rect">
                <a:avLst/>
              </a:prstGeom>
            </p:spPr>
            <p:txBody>
              <a:bodyPr anchor="ctr" rtlCol="false" tIns="30951" lIns="30951" bIns="30951" rIns="30951"/>
              <a:lstStyle/>
              <a:p>
                <a:pPr algn="ctr">
                  <a:lnSpc>
                    <a:spcPts val="4140"/>
                  </a:lnSpc>
                </a:pPr>
              </a:p>
            </p:txBody>
          </p:sp>
        </p:grpSp>
        <p:sp>
          <p:nvSpPr>
            <p:cNvPr name="Freeform 162" id="162"/>
            <p:cNvSpPr/>
            <p:nvPr/>
          </p:nvSpPr>
          <p:spPr>
            <a:xfrm flipH="false" flipV="false" rot="0">
              <a:off x="178786" y="609600"/>
              <a:ext cx="2733919" cy="1895517"/>
            </a:xfrm>
            <a:custGeom>
              <a:avLst/>
              <a:gdLst/>
              <a:ahLst/>
              <a:cxnLst/>
              <a:rect r="r" b="b" t="t" l="l"/>
              <a:pathLst>
                <a:path h="1895517" w="2733919">
                  <a:moveTo>
                    <a:pt x="0" y="0"/>
                  </a:moveTo>
                  <a:lnTo>
                    <a:pt x="2733918" y="0"/>
                  </a:lnTo>
                  <a:lnTo>
                    <a:pt x="2733918" y="1895517"/>
                  </a:lnTo>
                  <a:lnTo>
                    <a:pt x="0" y="1895517"/>
                  </a:lnTo>
                  <a:lnTo>
                    <a:pt x="0" y="0"/>
                  </a:lnTo>
                  <a:close/>
                </a:path>
              </a:pathLst>
            </a:custGeom>
            <a:blipFill>
              <a:blip r:embed="rId43"/>
              <a:stretch>
                <a:fillRect l="-34761" t="-10058" r="-23945" b="-61619"/>
              </a:stretch>
            </a:blipFill>
          </p:spPr>
        </p:sp>
        <p:grpSp>
          <p:nvGrpSpPr>
            <p:cNvPr name="Group 163" id="163"/>
            <p:cNvGrpSpPr/>
            <p:nvPr/>
          </p:nvGrpSpPr>
          <p:grpSpPr>
            <a:xfrm rot="0">
              <a:off x="685087" y="904200"/>
              <a:ext cx="1249646" cy="967608"/>
              <a:chOff x="0" y="0"/>
              <a:chExt cx="621190" cy="480991"/>
            </a:xfrm>
          </p:grpSpPr>
          <p:sp>
            <p:nvSpPr>
              <p:cNvPr name="Freeform 164" id="164"/>
              <p:cNvSpPr/>
              <p:nvPr/>
            </p:nvSpPr>
            <p:spPr>
              <a:xfrm flipH="false" flipV="false" rot="0">
                <a:off x="0" y="0"/>
                <a:ext cx="621190" cy="480991"/>
              </a:xfrm>
              <a:custGeom>
                <a:avLst/>
                <a:gdLst/>
                <a:ahLst/>
                <a:cxnLst/>
                <a:rect r="r" b="b" t="t" l="l"/>
                <a:pathLst>
                  <a:path h="480991" w="621190">
                    <a:moveTo>
                      <a:pt x="310595" y="0"/>
                    </a:moveTo>
                    <a:cubicBezTo>
                      <a:pt x="139058" y="0"/>
                      <a:pt x="0" y="107673"/>
                      <a:pt x="0" y="240495"/>
                    </a:cubicBezTo>
                    <a:cubicBezTo>
                      <a:pt x="0" y="373317"/>
                      <a:pt x="139058" y="480991"/>
                      <a:pt x="310595" y="480991"/>
                    </a:cubicBezTo>
                    <a:cubicBezTo>
                      <a:pt x="482132" y="480991"/>
                      <a:pt x="621190" y="373317"/>
                      <a:pt x="621190" y="240495"/>
                    </a:cubicBezTo>
                    <a:cubicBezTo>
                      <a:pt x="621190" y="107673"/>
                      <a:pt x="482132" y="0"/>
                      <a:pt x="310595" y="0"/>
                    </a:cubicBezTo>
                    <a:close/>
                  </a:path>
                </a:pathLst>
              </a:custGeom>
              <a:ln w="38100" cap="sq">
                <a:solidFill>
                  <a:srgbClr val="FF3131"/>
                </a:solidFill>
                <a:prstDash val="solid"/>
                <a:miter/>
              </a:ln>
            </p:spPr>
          </p:sp>
          <p:sp>
            <p:nvSpPr>
              <p:cNvPr name="TextBox 165" id="165"/>
              <p:cNvSpPr txBox="true"/>
              <p:nvPr/>
            </p:nvSpPr>
            <p:spPr>
              <a:xfrm>
                <a:off x="58237" y="35568"/>
                <a:ext cx="504717" cy="400330"/>
              </a:xfrm>
              <a:prstGeom prst="rect">
                <a:avLst/>
              </a:prstGeom>
            </p:spPr>
            <p:txBody>
              <a:bodyPr anchor="ctr" rtlCol="false" tIns="50800" lIns="50800" bIns="50800" rIns="50800"/>
              <a:lstStyle/>
              <a:p>
                <a:pPr algn="ctr">
                  <a:lnSpc>
                    <a:spcPts val="4139"/>
                  </a:lnSpc>
                </a:pPr>
              </a:p>
            </p:txBody>
          </p:sp>
        </p:grpSp>
        <p:sp>
          <p:nvSpPr>
            <p:cNvPr name="Freeform 166" id="166"/>
            <p:cNvSpPr/>
            <p:nvPr/>
          </p:nvSpPr>
          <p:spPr>
            <a:xfrm flipH="false" flipV="false" rot="0">
              <a:off x="217197" y="3263618"/>
              <a:ext cx="2695508" cy="2933347"/>
            </a:xfrm>
            <a:custGeom>
              <a:avLst/>
              <a:gdLst/>
              <a:ahLst/>
              <a:cxnLst/>
              <a:rect r="r" b="b" t="t" l="l"/>
              <a:pathLst>
                <a:path h="2933347" w="2695508">
                  <a:moveTo>
                    <a:pt x="0" y="0"/>
                  </a:moveTo>
                  <a:lnTo>
                    <a:pt x="2695507" y="0"/>
                  </a:lnTo>
                  <a:lnTo>
                    <a:pt x="2695507" y="2933347"/>
                  </a:lnTo>
                  <a:lnTo>
                    <a:pt x="0" y="2933347"/>
                  </a:lnTo>
                  <a:lnTo>
                    <a:pt x="0" y="0"/>
                  </a:lnTo>
                  <a:close/>
                </a:path>
              </a:pathLst>
            </a:custGeom>
            <a:blipFill>
              <a:blip r:embed="rId44"/>
              <a:stretch>
                <a:fillRect l="-131372" t="-80318" r="-150784" b="-17215"/>
              </a:stretch>
            </a:blipFill>
          </p:spPr>
        </p:sp>
        <p:sp>
          <p:nvSpPr>
            <p:cNvPr name="TextBox 167" id="167"/>
            <p:cNvSpPr txBox="true"/>
            <p:nvPr/>
          </p:nvSpPr>
          <p:spPr>
            <a:xfrm rot="0">
              <a:off x="314292" y="130175"/>
              <a:ext cx="2462907" cy="390525"/>
            </a:xfrm>
            <a:prstGeom prst="rect">
              <a:avLst/>
            </a:prstGeom>
          </p:spPr>
          <p:txBody>
            <a:bodyPr anchor="t" rtlCol="false" tIns="0" lIns="0" bIns="0" rIns="0">
              <a:spAutoFit/>
            </a:bodyPr>
            <a:lstStyle/>
            <a:p>
              <a:pPr algn="ctr">
                <a:lnSpc>
                  <a:spcPts val="2279"/>
                </a:lnSpc>
                <a:spcBef>
                  <a:spcPct val="0"/>
                </a:spcBef>
              </a:pPr>
              <a:r>
                <a:rPr lang="en-US" b="true" sz="1899">
                  <a:solidFill>
                    <a:srgbClr val="000000"/>
                  </a:solidFill>
                  <a:latin typeface="Archivo Narrow Bold"/>
                  <a:ea typeface="Archivo Narrow Bold"/>
                  <a:cs typeface="Archivo Narrow Bold"/>
                  <a:sym typeface="Archivo Narrow Bold"/>
                </a:rPr>
                <a:t>Problem to address</a:t>
              </a:r>
            </a:p>
          </p:txBody>
        </p:sp>
        <p:sp>
          <p:nvSpPr>
            <p:cNvPr name="TextBox 168" id="168"/>
            <p:cNvSpPr txBox="true"/>
            <p:nvPr/>
          </p:nvSpPr>
          <p:spPr>
            <a:xfrm rot="0">
              <a:off x="178786" y="2555593"/>
              <a:ext cx="2733919" cy="568325"/>
            </a:xfrm>
            <a:prstGeom prst="rect">
              <a:avLst/>
            </a:prstGeom>
          </p:spPr>
          <p:txBody>
            <a:bodyPr anchor="t" rtlCol="false" tIns="0" lIns="0" bIns="0" rIns="0">
              <a:spAutoFit/>
            </a:bodyPr>
            <a:lstStyle/>
            <a:p>
              <a:pPr algn="l">
                <a:lnSpc>
                  <a:spcPts val="1680"/>
                </a:lnSpc>
              </a:pPr>
              <a:r>
                <a:rPr lang="en-US" sz="1400" spc="-28">
                  <a:solidFill>
                    <a:srgbClr val="404040"/>
                  </a:solidFill>
                  <a:latin typeface="Archivo Narrow"/>
                  <a:ea typeface="Archivo Narrow"/>
                  <a:cs typeface="Archivo Narrow"/>
                  <a:sym typeface="Archivo Narrow"/>
                </a:rPr>
                <a:t>Wall liquid re-entering bulk flow at the inlet.</a:t>
              </a:r>
            </a:p>
          </p:txBody>
        </p:sp>
        <p:grpSp>
          <p:nvGrpSpPr>
            <p:cNvPr name="Group 169" id="169"/>
            <p:cNvGrpSpPr/>
            <p:nvPr/>
          </p:nvGrpSpPr>
          <p:grpSpPr>
            <a:xfrm rot="0">
              <a:off x="781578" y="4420917"/>
              <a:ext cx="995617" cy="991339"/>
              <a:chOff x="0" y="0"/>
              <a:chExt cx="494914" cy="492788"/>
            </a:xfrm>
          </p:grpSpPr>
          <p:sp>
            <p:nvSpPr>
              <p:cNvPr name="Freeform 170" id="170"/>
              <p:cNvSpPr/>
              <p:nvPr/>
            </p:nvSpPr>
            <p:spPr>
              <a:xfrm flipH="false" flipV="false" rot="0">
                <a:off x="0" y="0"/>
                <a:ext cx="494914" cy="492788"/>
              </a:xfrm>
              <a:custGeom>
                <a:avLst/>
                <a:gdLst/>
                <a:ahLst/>
                <a:cxnLst/>
                <a:rect r="r" b="b" t="t" l="l"/>
                <a:pathLst>
                  <a:path h="492788" w="494914">
                    <a:moveTo>
                      <a:pt x="247457" y="0"/>
                    </a:moveTo>
                    <a:cubicBezTo>
                      <a:pt x="110790" y="0"/>
                      <a:pt x="0" y="110314"/>
                      <a:pt x="0" y="246394"/>
                    </a:cubicBezTo>
                    <a:cubicBezTo>
                      <a:pt x="0" y="382473"/>
                      <a:pt x="110790" y="492788"/>
                      <a:pt x="247457" y="492788"/>
                    </a:cubicBezTo>
                    <a:cubicBezTo>
                      <a:pt x="384124" y="492788"/>
                      <a:pt x="494914" y="382473"/>
                      <a:pt x="494914" y="246394"/>
                    </a:cubicBezTo>
                    <a:cubicBezTo>
                      <a:pt x="494914" y="110314"/>
                      <a:pt x="384124" y="0"/>
                      <a:pt x="247457" y="0"/>
                    </a:cubicBezTo>
                    <a:close/>
                  </a:path>
                </a:pathLst>
              </a:custGeom>
              <a:ln w="47625" cap="sq">
                <a:solidFill>
                  <a:srgbClr val="FF3131"/>
                </a:solidFill>
                <a:prstDash val="solid"/>
                <a:miter/>
              </a:ln>
            </p:spPr>
          </p:sp>
          <p:sp>
            <p:nvSpPr>
              <p:cNvPr name="TextBox 171" id="171"/>
              <p:cNvSpPr txBox="true"/>
              <p:nvPr/>
            </p:nvSpPr>
            <p:spPr>
              <a:xfrm>
                <a:off x="46398" y="36674"/>
                <a:ext cx="402118" cy="409915"/>
              </a:xfrm>
              <a:prstGeom prst="rect">
                <a:avLst/>
              </a:prstGeom>
            </p:spPr>
            <p:txBody>
              <a:bodyPr anchor="ctr" rtlCol="false" tIns="50800" lIns="50800" bIns="50800" rIns="50800"/>
              <a:lstStyle/>
              <a:p>
                <a:pPr algn="ctr">
                  <a:lnSpc>
                    <a:spcPts val="4139"/>
                  </a:lnSpc>
                </a:pPr>
              </a:p>
            </p:txBody>
          </p:sp>
        </p:grpSp>
      </p:grpSp>
      <p:pic>
        <p:nvPicPr>
          <p:cNvPr name="Picture 172" id="172"/>
          <p:cNvPicPr>
            <a:picLocks noChangeAspect="true"/>
          </p:cNvPicPr>
          <p:nvPr/>
        </p:nvPicPr>
        <p:blipFill>
          <a:blip r:embed="rId45"/>
          <a:stretch>
            <a:fillRect/>
          </a:stretch>
        </p:blipFill>
        <p:spPr>
          <a:xfrm rot="0">
            <a:off x="14613328" y="9048370"/>
            <a:ext cx="4515466" cy="1268445"/>
          </a:xfrm>
          <a:prstGeom prst="rect">
            <a:avLst/>
          </a:prstGeom>
        </p:spPr>
      </p:pic>
      <p:pic>
        <p:nvPicPr>
          <p:cNvPr name="Picture 173" id="173"/>
          <p:cNvPicPr>
            <a:picLocks noChangeAspect="true"/>
          </p:cNvPicPr>
          <p:nvPr/>
        </p:nvPicPr>
        <p:blipFill>
          <a:blip r:embed="rId46"/>
          <a:stretch>
            <a:fillRect/>
          </a:stretch>
        </p:blipFill>
        <p:spPr>
          <a:xfrm rot="0">
            <a:off x="15497792" y="10154784"/>
            <a:ext cx="2746540" cy="732714"/>
          </a:xfrm>
          <a:prstGeom prst="rect">
            <a:avLst/>
          </a:prstGeom>
        </p:spPr>
      </p:pic>
      <p:pic>
        <p:nvPicPr>
          <p:cNvPr name="Picture 174" id="174"/>
          <p:cNvPicPr>
            <a:picLocks noChangeAspect="true"/>
          </p:cNvPicPr>
          <p:nvPr/>
        </p:nvPicPr>
        <p:blipFill>
          <a:blip r:embed="rId47"/>
          <a:stretch>
            <a:fillRect/>
          </a:stretch>
        </p:blipFill>
        <p:spPr>
          <a:xfrm rot="0">
            <a:off x="15540631" y="8531764"/>
            <a:ext cx="2319716" cy="643068"/>
          </a:xfrm>
          <a:prstGeom prst="rect">
            <a:avLst/>
          </a:prstGeom>
        </p:spPr>
      </p:pic>
      <p:sp>
        <p:nvSpPr>
          <p:cNvPr name="Freeform 175" id="175"/>
          <p:cNvSpPr/>
          <p:nvPr/>
        </p:nvSpPr>
        <p:spPr>
          <a:xfrm flipH="false" flipV="false" rot="0">
            <a:off x="11421472" y="15525260"/>
            <a:ext cx="662812" cy="673400"/>
          </a:xfrm>
          <a:custGeom>
            <a:avLst/>
            <a:gdLst/>
            <a:ahLst/>
            <a:cxnLst/>
            <a:rect r="r" b="b" t="t" l="l"/>
            <a:pathLst>
              <a:path h="673400" w="662812">
                <a:moveTo>
                  <a:pt x="0" y="0"/>
                </a:moveTo>
                <a:lnTo>
                  <a:pt x="662812" y="0"/>
                </a:lnTo>
                <a:lnTo>
                  <a:pt x="662812" y="673400"/>
                </a:lnTo>
                <a:lnTo>
                  <a:pt x="0" y="673400"/>
                </a:lnTo>
                <a:lnTo>
                  <a:pt x="0" y="0"/>
                </a:lnTo>
                <a:close/>
              </a:path>
            </a:pathLst>
          </a:custGeom>
          <a:blipFill>
            <a:blip r:embed="rId48"/>
            <a:stretch>
              <a:fillRect l="-7977" t="-7608" r="-8470" b="-7008"/>
            </a:stretch>
          </a:blipFill>
        </p:spPr>
      </p:sp>
      <p:sp>
        <p:nvSpPr>
          <p:cNvPr name="Freeform 176" id="176"/>
          <p:cNvSpPr/>
          <p:nvPr/>
        </p:nvSpPr>
        <p:spPr>
          <a:xfrm flipH="false" flipV="false" rot="0">
            <a:off x="18403350" y="16035771"/>
            <a:ext cx="1727588" cy="1424699"/>
          </a:xfrm>
          <a:custGeom>
            <a:avLst/>
            <a:gdLst/>
            <a:ahLst/>
            <a:cxnLst/>
            <a:rect r="r" b="b" t="t" l="l"/>
            <a:pathLst>
              <a:path h="1424699" w="1727588">
                <a:moveTo>
                  <a:pt x="0" y="0"/>
                </a:moveTo>
                <a:lnTo>
                  <a:pt x="1727588" y="0"/>
                </a:lnTo>
                <a:lnTo>
                  <a:pt x="1727588" y="1424699"/>
                </a:lnTo>
                <a:lnTo>
                  <a:pt x="0" y="1424699"/>
                </a:lnTo>
                <a:lnTo>
                  <a:pt x="0" y="0"/>
                </a:lnTo>
                <a:close/>
              </a:path>
            </a:pathLst>
          </a:custGeom>
          <a:blipFill>
            <a:blip r:embed="rId49"/>
            <a:stretch>
              <a:fillRect l="-49562" t="-30796" r="0" b="-20298"/>
            </a:stretch>
          </a:blipFill>
        </p:spPr>
      </p:sp>
      <p:sp>
        <p:nvSpPr>
          <p:cNvPr name="Freeform 177" id="177"/>
          <p:cNvSpPr/>
          <p:nvPr/>
        </p:nvSpPr>
        <p:spPr>
          <a:xfrm flipH="false" flipV="false" rot="0">
            <a:off x="19222335" y="15411702"/>
            <a:ext cx="1380395" cy="1037232"/>
          </a:xfrm>
          <a:custGeom>
            <a:avLst/>
            <a:gdLst/>
            <a:ahLst/>
            <a:cxnLst/>
            <a:rect r="r" b="b" t="t" l="l"/>
            <a:pathLst>
              <a:path h="1037232" w="1380395">
                <a:moveTo>
                  <a:pt x="0" y="0"/>
                </a:moveTo>
                <a:lnTo>
                  <a:pt x="1380394" y="0"/>
                </a:lnTo>
                <a:lnTo>
                  <a:pt x="1380394" y="1037232"/>
                </a:lnTo>
                <a:lnTo>
                  <a:pt x="0" y="1037232"/>
                </a:lnTo>
                <a:lnTo>
                  <a:pt x="0" y="0"/>
                </a:lnTo>
                <a:close/>
              </a:path>
            </a:pathLst>
          </a:custGeom>
          <a:blipFill>
            <a:blip r:embed="rId50"/>
            <a:stretch>
              <a:fillRect l="-191954" t="-140108" r="-166924" b="-268677"/>
            </a:stretch>
          </a:blipFill>
        </p:spPr>
      </p:sp>
      <p:grpSp>
        <p:nvGrpSpPr>
          <p:cNvPr name="Group 178" id="178"/>
          <p:cNvGrpSpPr/>
          <p:nvPr/>
        </p:nvGrpSpPr>
        <p:grpSpPr>
          <a:xfrm rot="0">
            <a:off x="18616750" y="16180368"/>
            <a:ext cx="444550" cy="344217"/>
            <a:chOff x="0" y="0"/>
            <a:chExt cx="621190" cy="480991"/>
          </a:xfrm>
        </p:grpSpPr>
        <p:sp>
          <p:nvSpPr>
            <p:cNvPr name="Freeform 179" id="179"/>
            <p:cNvSpPr/>
            <p:nvPr/>
          </p:nvSpPr>
          <p:spPr>
            <a:xfrm flipH="false" flipV="false" rot="0">
              <a:off x="0" y="0"/>
              <a:ext cx="621190" cy="480991"/>
            </a:xfrm>
            <a:custGeom>
              <a:avLst/>
              <a:gdLst/>
              <a:ahLst/>
              <a:cxnLst/>
              <a:rect r="r" b="b" t="t" l="l"/>
              <a:pathLst>
                <a:path h="480991" w="621190">
                  <a:moveTo>
                    <a:pt x="310595" y="0"/>
                  </a:moveTo>
                  <a:cubicBezTo>
                    <a:pt x="139058" y="0"/>
                    <a:pt x="0" y="107673"/>
                    <a:pt x="0" y="240495"/>
                  </a:cubicBezTo>
                  <a:cubicBezTo>
                    <a:pt x="0" y="373317"/>
                    <a:pt x="139058" y="480991"/>
                    <a:pt x="310595" y="480991"/>
                  </a:cubicBezTo>
                  <a:cubicBezTo>
                    <a:pt x="482132" y="480991"/>
                    <a:pt x="621190" y="373317"/>
                    <a:pt x="621190" y="240495"/>
                  </a:cubicBezTo>
                  <a:cubicBezTo>
                    <a:pt x="621190" y="107673"/>
                    <a:pt x="482132" y="0"/>
                    <a:pt x="310595" y="0"/>
                  </a:cubicBezTo>
                  <a:close/>
                </a:path>
              </a:pathLst>
            </a:custGeom>
            <a:ln w="9525" cap="sq">
              <a:solidFill>
                <a:srgbClr val="FF3131"/>
              </a:solidFill>
              <a:prstDash val="solid"/>
              <a:miter/>
            </a:ln>
          </p:spPr>
        </p:sp>
        <p:sp>
          <p:nvSpPr>
            <p:cNvPr name="TextBox 180" id="180"/>
            <p:cNvSpPr txBox="true"/>
            <p:nvPr/>
          </p:nvSpPr>
          <p:spPr>
            <a:xfrm>
              <a:off x="58237" y="35568"/>
              <a:ext cx="504717" cy="400330"/>
            </a:xfrm>
            <a:prstGeom prst="rect">
              <a:avLst/>
            </a:prstGeom>
          </p:spPr>
          <p:txBody>
            <a:bodyPr anchor="ctr" rtlCol="false" tIns="64436" lIns="64436" bIns="64436" rIns="64436"/>
            <a:lstStyle/>
            <a:p>
              <a:pPr algn="ctr">
                <a:lnSpc>
                  <a:spcPts val="4139"/>
                </a:lnSpc>
              </a:pPr>
            </a:p>
          </p:txBody>
        </p:sp>
      </p:grpSp>
      <p:sp>
        <p:nvSpPr>
          <p:cNvPr name="Freeform 181" id="181"/>
          <p:cNvSpPr/>
          <p:nvPr/>
        </p:nvSpPr>
        <p:spPr>
          <a:xfrm>
            <a:off x="18839024" y="15666134"/>
            <a:ext cx="741373" cy="514233"/>
          </a:xfrm>
          <a:custGeom>
            <a:avLst/>
            <a:gdLst/>
            <a:ahLst/>
            <a:cxnLst/>
            <a:rect r="r" b="b" t="t" l="l"/>
            <a:pathLst>
              <a:path h="514233" w="741373">
                <a:moveTo>
                  <a:pt x="0" y="514234"/>
                </a:moveTo>
                <a:quadBezTo>
                  <a:pt x="103774" y="-139300"/>
                  <a:pt x="741374" y="37735"/>
                </a:quadBezTo>
              </a:path>
            </a:pathLst>
          </a:custGeom>
          <a:ln cap="flat" w="19050">
            <a:solidFill>
              <a:srgbClr val="FF3131"/>
            </a:solidFill>
            <a:prstDash val="solid"/>
            <a:headEnd type="none" len="sm" w="sm"/>
            <a:tailEnd type="triangle" len="med" w="lg"/>
          </a:ln>
        </p:spPr>
      </p:sp>
      <p:sp>
        <p:nvSpPr>
          <p:cNvPr name="Freeform 182" id="182"/>
          <p:cNvSpPr/>
          <p:nvPr/>
        </p:nvSpPr>
        <p:spPr>
          <a:xfrm flipH="false" flipV="false" rot="0">
            <a:off x="20764654" y="17335438"/>
            <a:ext cx="1841188" cy="1396407"/>
          </a:xfrm>
          <a:custGeom>
            <a:avLst/>
            <a:gdLst/>
            <a:ahLst/>
            <a:cxnLst/>
            <a:rect r="r" b="b" t="t" l="l"/>
            <a:pathLst>
              <a:path h="1396407" w="1841188">
                <a:moveTo>
                  <a:pt x="0" y="0"/>
                </a:moveTo>
                <a:lnTo>
                  <a:pt x="1841189" y="0"/>
                </a:lnTo>
                <a:lnTo>
                  <a:pt x="1841189" y="1396406"/>
                </a:lnTo>
                <a:lnTo>
                  <a:pt x="0" y="1396406"/>
                </a:lnTo>
                <a:lnTo>
                  <a:pt x="0" y="0"/>
                </a:lnTo>
                <a:close/>
              </a:path>
            </a:pathLst>
          </a:custGeom>
          <a:blipFill>
            <a:blip r:embed="rId51"/>
            <a:stretch>
              <a:fillRect l="0" t="0" r="0" b="0"/>
            </a:stretch>
          </a:blipFill>
        </p:spPr>
      </p:sp>
      <p:sp>
        <p:nvSpPr>
          <p:cNvPr name="Freeform 183" id="183"/>
          <p:cNvSpPr/>
          <p:nvPr/>
        </p:nvSpPr>
        <p:spPr>
          <a:xfrm flipH="false" flipV="false" rot="0">
            <a:off x="20943620" y="18778511"/>
            <a:ext cx="1841188" cy="1396407"/>
          </a:xfrm>
          <a:custGeom>
            <a:avLst/>
            <a:gdLst/>
            <a:ahLst/>
            <a:cxnLst/>
            <a:rect r="r" b="b" t="t" l="l"/>
            <a:pathLst>
              <a:path h="1396407" w="1841188">
                <a:moveTo>
                  <a:pt x="0" y="0"/>
                </a:moveTo>
                <a:lnTo>
                  <a:pt x="1841188" y="0"/>
                </a:lnTo>
                <a:lnTo>
                  <a:pt x="1841188" y="1396406"/>
                </a:lnTo>
                <a:lnTo>
                  <a:pt x="0" y="1396406"/>
                </a:lnTo>
                <a:lnTo>
                  <a:pt x="0" y="0"/>
                </a:lnTo>
                <a:close/>
              </a:path>
            </a:pathLst>
          </a:custGeom>
          <a:blipFill>
            <a:blip r:embed="rId52"/>
            <a:stretch>
              <a:fillRect l="0" t="0" r="0" b="0"/>
            </a:stretch>
          </a:blipFill>
        </p:spPr>
      </p:sp>
      <p:sp>
        <p:nvSpPr>
          <p:cNvPr name="Freeform 184" id="184"/>
          <p:cNvSpPr/>
          <p:nvPr/>
        </p:nvSpPr>
        <p:spPr>
          <a:xfrm flipH="false" flipV="false" rot="0">
            <a:off x="20764654" y="15564102"/>
            <a:ext cx="2356312" cy="1485586"/>
          </a:xfrm>
          <a:custGeom>
            <a:avLst/>
            <a:gdLst/>
            <a:ahLst/>
            <a:cxnLst/>
            <a:rect r="r" b="b" t="t" l="l"/>
            <a:pathLst>
              <a:path h="1485586" w="2356312">
                <a:moveTo>
                  <a:pt x="0" y="0"/>
                </a:moveTo>
                <a:lnTo>
                  <a:pt x="2356312" y="0"/>
                </a:lnTo>
                <a:lnTo>
                  <a:pt x="2356312" y="1485586"/>
                </a:lnTo>
                <a:lnTo>
                  <a:pt x="0" y="1485586"/>
                </a:lnTo>
                <a:lnTo>
                  <a:pt x="0" y="0"/>
                </a:lnTo>
                <a:close/>
              </a:path>
            </a:pathLst>
          </a:custGeom>
          <a:blipFill>
            <a:blip r:embed="rId53"/>
            <a:stretch>
              <a:fillRect l="0" t="0" r="-12083" b="0"/>
            </a:stretch>
          </a:blipFill>
        </p:spPr>
      </p:sp>
      <p:sp>
        <p:nvSpPr>
          <p:cNvPr name="TextBox 185" id="185"/>
          <p:cNvSpPr txBox="true"/>
          <p:nvPr/>
        </p:nvSpPr>
        <p:spPr>
          <a:xfrm rot="0">
            <a:off x="10816381" y="20130294"/>
            <a:ext cx="1495708" cy="428625"/>
          </a:xfrm>
          <a:prstGeom prst="rect">
            <a:avLst/>
          </a:prstGeom>
        </p:spPr>
        <p:txBody>
          <a:bodyPr anchor="t" rtlCol="false" tIns="0" lIns="0" bIns="0" rIns="0">
            <a:spAutoFit/>
          </a:bodyPr>
          <a:lstStyle/>
          <a:p>
            <a:pPr algn="l">
              <a:lnSpc>
                <a:spcPts val="1680"/>
              </a:lnSpc>
            </a:pPr>
            <a:r>
              <a:rPr lang="en-US" sz="1400" spc="-28">
                <a:solidFill>
                  <a:srgbClr val="404040"/>
                </a:solidFill>
                <a:latin typeface="Archivo Narrow"/>
                <a:ea typeface="Archivo Narrow"/>
                <a:cs typeface="Archivo Narrow"/>
                <a:sym typeface="Archivo Narrow"/>
              </a:rPr>
              <a:t>Create the new case, and verify the new case</a:t>
            </a:r>
          </a:p>
        </p:txBody>
      </p:sp>
      <p:sp>
        <p:nvSpPr>
          <p:cNvPr name="TextBox 186" id="186"/>
          <p:cNvSpPr txBox="true"/>
          <p:nvPr/>
        </p:nvSpPr>
        <p:spPr>
          <a:xfrm rot="0">
            <a:off x="25752110" y="12009555"/>
            <a:ext cx="2977100" cy="2295525"/>
          </a:xfrm>
          <a:prstGeom prst="rect">
            <a:avLst/>
          </a:prstGeom>
        </p:spPr>
        <p:txBody>
          <a:bodyPr anchor="t" rtlCol="false" tIns="0" lIns="0" bIns="0" rIns="0">
            <a:spAutoFit/>
          </a:bodyPr>
          <a:lstStyle/>
          <a:p>
            <a:pPr algn="l">
              <a:lnSpc>
                <a:spcPts val="1557"/>
              </a:lnSpc>
            </a:pPr>
            <a:r>
              <a:rPr lang="en-US" sz="1297" spc="-25" b="true">
                <a:solidFill>
                  <a:srgbClr val="404040"/>
                </a:solidFill>
                <a:latin typeface="Archivo Narrow Bold"/>
                <a:ea typeface="Archivo Narrow Bold"/>
                <a:cs typeface="Archivo Narrow Bold"/>
                <a:sym typeface="Archivo Narrow Bold"/>
              </a:rPr>
              <a:t>EWF Mechanism</a:t>
            </a:r>
            <a:r>
              <a:rPr lang="en-US" sz="1297" spc="-25" b="true">
                <a:solidFill>
                  <a:srgbClr val="404040"/>
                </a:solidFill>
                <a:latin typeface="Archivo Narrow Bold"/>
                <a:ea typeface="Archivo Narrow Bold"/>
                <a:cs typeface="Archivo Narrow Bold"/>
                <a:sym typeface="Archivo Narrow Bold"/>
              </a:rPr>
              <a:t>:</a:t>
            </a:r>
          </a:p>
          <a:p>
            <a:pPr algn="l" marL="280153" indent="-140076" lvl="1">
              <a:lnSpc>
                <a:spcPts val="1557"/>
              </a:lnSpc>
              <a:buFont typeface="Arial"/>
              <a:buChar char="•"/>
            </a:pPr>
            <a:r>
              <a:rPr lang="en-US" sz="1297" spc="-25">
                <a:solidFill>
                  <a:srgbClr val="404040"/>
                </a:solidFill>
                <a:latin typeface="Archivo Narrow"/>
                <a:ea typeface="Archivo Narrow"/>
                <a:cs typeface="Archivo Narrow"/>
                <a:sym typeface="Archivo Narrow"/>
              </a:rPr>
              <a:t>Phase Accretion ON</a:t>
            </a:r>
          </a:p>
          <a:p>
            <a:pPr algn="l">
              <a:lnSpc>
                <a:spcPts val="1557"/>
              </a:lnSpc>
            </a:pPr>
            <a:r>
              <a:rPr lang="en-US" sz="1297" spc="-25">
                <a:solidFill>
                  <a:srgbClr val="404040"/>
                </a:solidFill>
                <a:latin typeface="Archivo Narrow"/>
                <a:ea typeface="Archivo Narrow"/>
                <a:cs typeface="Archivo Narrow"/>
                <a:sym typeface="Archivo Narrow"/>
              </a:rPr>
              <a:t>Film Velocity Calculation: </a:t>
            </a:r>
          </a:p>
          <a:p>
            <a:pPr algn="l" marL="280153" indent="-140076" lvl="1">
              <a:lnSpc>
                <a:spcPts val="1557"/>
              </a:lnSpc>
              <a:buFont typeface="Arial"/>
              <a:buChar char="•"/>
            </a:pPr>
            <a:r>
              <a:rPr lang="en-US" sz="1297" spc="-25">
                <a:solidFill>
                  <a:srgbClr val="404040"/>
                </a:solidFill>
                <a:latin typeface="Archivo Narrow"/>
                <a:ea typeface="Archivo Narrow"/>
                <a:cs typeface="Archivo Narrow"/>
                <a:sym typeface="Archivo Narrow"/>
              </a:rPr>
              <a:t>Ful</a:t>
            </a:r>
            <a:r>
              <a:rPr lang="en-US" sz="1297" spc="-25">
                <a:solidFill>
                  <a:srgbClr val="404040"/>
                </a:solidFill>
                <a:latin typeface="Archivo Narrow"/>
                <a:ea typeface="Archivo Narrow"/>
                <a:cs typeface="Archivo Narrow"/>
                <a:sym typeface="Archivo Narrow"/>
              </a:rPr>
              <a:t>l</a:t>
            </a:r>
            <a:r>
              <a:rPr lang="en-US" sz="1297" spc="-25">
                <a:solidFill>
                  <a:srgbClr val="404040"/>
                </a:solidFill>
                <a:latin typeface="Archivo Narrow"/>
                <a:ea typeface="Archivo Narrow"/>
                <a:cs typeface="Archivo Narrow"/>
                <a:sym typeface="Archivo Narrow"/>
              </a:rPr>
              <a:t> Momen</a:t>
            </a:r>
            <a:r>
              <a:rPr lang="en-US" sz="1297" spc="-25">
                <a:solidFill>
                  <a:srgbClr val="404040"/>
                </a:solidFill>
                <a:latin typeface="Archivo Narrow"/>
                <a:ea typeface="Archivo Narrow"/>
                <a:cs typeface="Archivo Narrow"/>
                <a:sym typeface="Archivo Narrow"/>
              </a:rPr>
              <a:t>tum eq</a:t>
            </a:r>
            <a:r>
              <a:rPr lang="en-US" sz="1297" spc="-25">
                <a:solidFill>
                  <a:srgbClr val="404040"/>
                </a:solidFill>
                <a:latin typeface="Archivo Narrow"/>
                <a:ea typeface="Archivo Narrow"/>
                <a:cs typeface="Archivo Narrow"/>
                <a:sym typeface="Archivo Narrow"/>
              </a:rPr>
              <a:t>uation</a:t>
            </a:r>
          </a:p>
          <a:p>
            <a:pPr algn="l">
              <a:lnSpc>
                <a:spcPts val="1557"/>
              </a:lnSpc>
            </a:pPr>
            <a:r>
              <a:rPr lang="en-US" sz="1297" spc="-25">
                <a:solidFill>
                  <a:srgbClr val="404040"/>
                </a:solidFill>
                <a:latin typeface="Archivo Narrow"/>
                <a:ea typeface="Archivo Narrow"/>
                <a:cs typeface="Archivo Narrow"/>
                <a:sym typeface="Archivo Narrow"/>
              </a:rPr>
              <a:t>Film Momentum Terms:</a:t>
            </a:r>
          </a:p>
          <a:p>
            <a:pPr algn="l" marL="280153" indent="-140076" lvl="1">
              <a:lnSpc>
                <a:spcPts val="1557"/>
              </a:lnSpc>
              <a:buFont typeface="Arial"/>
              <a:buChar char="•"/>
            </a:pPr>
            <a:r>
              <a:rPr lang="en-US" sz="1297" spc="-25">
                <a:solidFill>
                  <a:srgbClr val="404040"/>
                </a:solidFill>
                <a:latin typeface="Archivo Narrow"/>
                <a:ea typeface="Archivo Narrow"/>
                <a:cs typeface="Archivo Narrow"/>
                <a:sym typeface="Archivo Narrow"/>
              </a:rPr>
              <a:t>Gravity, gas shear, wall-viscous resistanc</a:t>
            </a:r>
            <a:r>
              <a:rPr lang="en-US" sz="1297" spc="-25">
                <a:solidFill>
                  <a:srgbClr val="404040"/>
                </a:solidFill>
                <a:latin typeface="Archivo Narrow"/>
                <a:ea typeface="Archivo Narrow"/>
                <a:cs typeface="Archivo Narrow"/>
                <a:sym typeface="Archivo Narrow"/>
              </a:rPr>
              <a:t>e, and momentum</a:t>
            </a:r>
            <a:r>
              <a:rPr lang="en-US" sz="1297" spc="-25">
                <a:solidFill>
                  <a:srgbClr val="404040"/>
                </a:solidFill>
                <a:latin typeface="Archivo Narrow"/>
                <a:ea typeface="Archivo Narrow"/>
                <a:cs typeface="Archivo Narrow"/>
                <a:sym typeface="Archivo Narrow"/>
              </a:rPr>
              <a:t> advection</a:t>
            </a:r>
            <a:r>
              <a:rPr lang="en-US" sz="1297" spc="-25">
                <a:solidFill>
                  <a:srgbClr val="404040"/>
                </a:solidFill>
                <a:latin typeface="Archivo Narrow"/>
                <a:ea typeface="Archivo Narrow"/>
                <a:cs typeface="Archivo Narrow"/>
                <a:sym typeface="Archivo Narrow"/>
              </a:rPr>
              <a:t> ON</a:t>
            </a:r>
          </a:p>
          <a:p>
            <a:pPr algn="l">
              <a:lnSpc>
                <a:spcPts val="1557"/>
              </a:lnSpc>
            </a:pPr>
            <a:r>
              <a:rPr lang="en-US" sz="1297" spc="-25">
                <a:solidFill>
                  <a:srgbClr val="404040"/>
                </a:solidFill>
                <a:latin typeface="Archivo Narrow"/>
                <a:ea typeface="Archivo Narrow"/>
                <a:cs typeface="Archivo Narrow"/>
                <a:sym typeface="Archivo Narrow"/>
              </a:rPr>
              <a:t>Surface Tension: 0.04041N/m</a:t>
            </a:r>
          </a:p>
          <a:p>
            <a:pPr algn="l">
              <a:lnSpc>
                <a:spcPts val="1557"/>
              </a:lnSpc>
            </a:pPr>
            <a:r>
              <a:rPr lang="en-US" sz="1297" spc="-25">
                <a:solidFill>
                  <a:srgbClr val="404040"/>
                </a:solidFill>
                <a:latin typeface="Archivo Narrow"/>
                <a:ea typeface="Archivo Narrow"/>
                <a:cs typeface="Archivo Narrow"/>
                <a:sym typeface="Archivo Narrow"/>
              </a:rPr>
              <a:t>Film pressure and spreading ON</a:t>
            </a:r>
          </a:p>
          <a:p>
            <a:pPr algn="l">
              <a:lnSpc>
                <a:spcPts val="1557"/>
              </a:lnSpc>
            </a:pPr>
            <a:r>
              <a:rPr lang="en-US" sz="1297" spc="-25">
                <a:solidFill>
                  <a:srgbClr val="404040"/>
                </a:solidFill>
                <a:latin typeface="Archivo Narrow"/>
                <a:ea typeface="Archivo Narrow"/>
                <a:cs typeface="Archivo Narrow"/>
                <a:sym typeface="Archivo Narrow"/>
              </a:rPr>
              <a:t>DPM collection and splashing ON</a:t>
            </a:r>
          </a:p>
          <a:p>
            <a:pPr algn="l">
              <a:lnSpc>
                <a:spcPts val="1557"/>
              </a:lnSpc>
            </a:pPr>
            <a:r>
              <a:rPr lang="en-US" sz="1297" spc="-25">
                <a:solidFill>
                  <a:srgbClr val="404040"/>
                </a:solidFill>
                <a:latin typeface="Archivo Narrow"/>
                <a:ea typeface="Archivo Narrow"/>
                <a:cs typeface="Archivo Narrow"/>
                <a:sym typeface="Archivo Narrow"/>
              </a:rPr>
              <a:t>Particle Separation and Stripping ON</a:t>
            </a:r>
          </a:p>
          <a:p>
            <a:pPr algn="l">
              <a:lnSpc>
                <a:spcPts val="1557"/>
              </a:lnSpc>
            </a:pPr>
          </a:p>
        </p:txBody>
      </p:sp>
      <p:sp>
        <p:nvSpPr>
          <p:cNvPr name="TextBox 187" id="187"/>
          <p:cNvSpPr txBox="true"/>
          <p:nvPr/>
        </p:nvSpPr>
        <p:spPr>
          <a:xfrm rot="0">
            <a:off x="10159115" y="11010999"/>
            <a:ext cx="6131623"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Liquid Absorber</a:t>
            </a:r>
          </a:p>
        </p:txBody>
      </p:sp>
      <p:sp>
        <p:nvSpPr>
          <p:cNvPr name="TextBox 188" id="188"/>
          <p:cNvSpPr txBox="true"/>
          <p:nvPr/>
        </p:nvSpPr>
        <p:spPr>
          <a:xfrm rot="0">
            <a:off x="19560041" y="3505340"/>
            <a:ext cx="9482206" cy="2009775"/>
          </a:xfrm>
          <a:prstGeom prst="rect">
            <a:avLst/>
          </a:prstGeom>
        </p:spPr>
        <p:txBody>
          <a:bodyPr anchor="t" rtlCol="false" tIns="0" lIns="0" bIns="0" rIns="0">
            <a:spAutoFit/>
          </a:bodyPr>
          <a:lstStyle/>
          <a:p>
            <a:pPr algn="l">
              <a:lnSpc>
                <a:spcPts val="2280"/>
              </a:lnSpc>
            </a:pPr>
            <a:r>
              <a:rPr lang="en-US" sz="1900" spc="-38" b="true">
                <a:solidFill>
                  <a:srgbClr val="404040"/>
                </a:solidFill>
                <a:latin typeface="Archivo Narrow Bold"/>
                <a:ea typeface="Archivo Narrow Bold"/>
                <a:cs typeface="Archivo Narrow Bold"/>
                <a:sym typeface="Archivo Narrow Bold"/>
              </a:rPr>
              <a:t>Why the wall matters: </a:t>
            </a:r>
            <a:r>
              <a:rPr lang="en-US" sz="1900" spc="-38">
                <a:solidFill>
                  <a:srgbClr val="404040"/>
                </a:solidFill>
                <a:latin typeface="Archivo Narrow"/>
                <a:ea typeface="Archivo Narrow"/>
                <a:cs typeface="Archivo Narrow"/>
                <a:sym typeface="Archivo Narrow"/>
              </a:rPr>
              <a:t>Swirl drives liquid towards the wall, where it can collect as a film and drain downwards. Wall friction, film formation and drainage are central to understanding separator behaviour.</a:t>
            </a:r>
          </a:p>
          <a:p>
            <a:pPr algn="l">
              <a:lnSpc>
                <a:spcPts val="2280"/>
              </a:lnSpc>
            </a:pPr>
            <a:r>
              <a:rPr lang="en-US" sz="1900" spc="-38" b="true">
                <a:solidFill>
                  <a:srgbClr val="404040"/>
                </a:solidFill>
                <a:latin typeface="Archivo Narrow Bold"/>
                <a:ea typeface="Archivo Narrow Bold"/>
                <a:cs typeface="Archivo Narrow Bold"/>
                <a:sym typeface="Archivo Narrow Bold"/>
              </a:rPr>
              <a:t>Strong response to settings: </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Roughness changed outlet liquid non-monotonically (−44.09% at 8 mm). </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With film accretion, bulk outlet liquid fell 24.37 → 1.74 kg/s (−92.88%)</a:t>
            </a:r>
          </a:p>
          <a:p>
            <a:pPr algn="l">
              <a:lnSpc>
                <a:spcPts val="2280"/>
              </a:lnSpc>
            </a:pPr>
            <a:r>
              <a:rPr lang="en-US" sz="1900" spc="-38">
                <a:solidFill>
                  <a:srgbClr val="404040"/>
                </a:solidFill>
                <a:latin typeface="Archivo Narrow"/>
                <a:ea typeface="Archivo Narrow"/>
                <a:cs typeface="Archivo Narrow"/>
                <a:sym typeface="Archivo Narrow"/>
              </a:rPr>
              <a:t>Wall treatment strongly affected the model response. Lower outlet flow accompanied inventory loss.</a:t>
            </a:r>
          </a:p>
          <a:p>
            <a:pPr algn="l">
              <a:lnSpc>
                <a:spcPts val="2280"/>
              </a:lnSpc>
            </a:pPr>
          </a:p>
        </p:txBody>
      </p:sp>
      <p:sp>
        <p:nvSpPr>
          <p:cNvPr name="TextBox 189" id="189"/>
          <p:cNvSpPr txBox="true"/>
          <p:nvPr/>
        </p:nvSpPr>
        <p:spPr>
          <a:xfrm rot="0">
            <a:off x="1746640" y="16353552"/>
            <a:ext cx="2912871" cy="428625"/>
          </a:xfrm>
          <a:prstGeom prst="rect">
            <a:avLst/>
          </a:prstGeom>
        </p:spPr>
        <p:txBody>
          <a:bodyPr anchor="t" rtlCol="false" tIns="0" lIns="0" bIns="0" rIns="0">
            <a:spAutoFit/>
          </a:bodyPr>
          <a:lstStyle/>
          <a:p>
            <a:pPr algn="l">
              <a:lnSpc>
                <a:spcPts val="1680"/>
              </a:lnSpc>
            </a:pPr>
            <a:r>
              <a:rPr lang="en-US" sz="1400" spc="-28">
                <a:solidFill>
                  <a:srgbClr val="404040"/>
                </a:solidFill>
                <a:latin typeface="Archivo Narrow"/>
                <a:ea typeface="Archivo Narrow"/>
                <a:cs typeface="Archivo Narrow"/>
                <a:sym typeface="Archivo Narrow"/>
              </a:rPr>
              <a:t>Propose a hypothesis through collaborative discussion</a:t>
            </a:r>
          </a:p>
        </p:txBody>
      </p:sp>
      <p:sp>
        <p:nvSpPr>
          <p:cNvPr name="TextBox 190" id="190"/>
          <p:cNvSpPr txBox="true"/>
          <p:nvPr/>
        </p:nvSpPr>
        <p:spPr>
          <a:xfrm rot="0">
            <a:off x="1242644" y="5766849"/>
            <a:ext cx="1007991"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Mesh</a:t>
            </a:r>
          </a:p>
        </p:txBody>
      </p:sp>
      <p:sp>
        <p:nvSpPr>
          <p:cNvPr name="TextBox 191" id="191"/>
          <p:cNvSpPr txBox="true"/>
          <p:nvPr/>
        </p:nvSpPr>
        <p:spPr>
          <a:xfrm rot="0">
            <a:off x="19587259" y="7781922"/>
            <a:ext cx="6131623"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Wall Film Behaviour</a:t>
            </a:r>
          </a:p>
        </p:txBody>
      </p:sp>
      <p:sp>
        <p:nvSpPr>
          <p:cNvPr name="TextBox 192" id="192"/>
          <p:cNvSpPr txBox="true"/>
          <p:nvPr/>
        </p:nvSpPr>
        <p:spPr>
          <a:xfrm rot="0">
            <a:off x="13384225" y="14740231"/>
            <a:ext cx="6534028"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Design Proposals to Increase Separation Efficiency</a:t>
            </a:r>
          </a:p>
        </p:txBody>
      </p:sp>
      <p:sp>
        <p:nvSpPr>
          <p:cNvPr name="TextBox 193" id="193"/>
          <p:cNvSpPr txBox="true"/>
          <p:nvPr/>
        </p:nvSpPr>
        <p:spPr>
          <a:xfrm rot="0">
            <a:off x="1281968" y="9143448"/>
            <a:ext cx="6131623"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Two Phase Inlet</a:t>
            </a:r>
          </a:p>
        </p:txBody>
      </p:sp>
      <p:sp>
        <p:nvSpPr>
          <p:cNvPr name="TextBox 194" id="194"/>
          <p:cNvSpPr txBox="true"/>
          <p:nvPr/>
        </p:nvSpPr>
        <p:spPr>
          <a:xfrm rot="0">
            <a:off x="1242644" y="14802102"/>
            <a:ext cx="6131623"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Methodology: Experiment Workflow</a:t>
            </a:r>
          </a:p>
        </p:txBody>
      </p:sp>
      <p:sp>
        <p:nvSpPr>
          <p:cNvPr name="TextBox 195" id="195"/>
          <p:cNvSpPr txBox="true"/>
          <p:nvPr/>
        </p:nvSpPr>
        <p:spPr>
          <a:xfrm rot="0">
            <a:off x="1731209" y="15554577"/>
            <a:ext cx="2603356" cy="381000"/>
          </a:xfrm>
          <a:prstGeom prst="rect">
            <a:avLst/>
          </a:prstGeom>
        </p:spPr>
        <p:txBody>
          <a:bodyPr anchor="t" rtlCol="false" tIns="0" lIns="0" bIns="0" rIns="0">
            <a:spAutoFit/>
          </a:bodyPr>
          <a:lstStyle/>
          <a:p>
            <a:pPr algn="l">
              <a:lnSpc>
                <a:spcPts val="2999"/>
              </a:lnSpc>
            </a:pPr>
            <a:r>
              <a:rPr lang="en-US" sz="2499">
                <a:solidFill>
                  <a:srgbClr val="0F2649"/>
                </a:solidFill>
                <a:latin typeface="Archivo Narrow"/>
                <a:ea typeface="Archivo Narrow"/>
                <a:cs typeface="Archivo Narrow"/>
                <a:sym typeface="Archivo Narrow"/>
              </a:rPr>
              <a:t>Fluent Agent Harness</a:t>
            </a:r>
          </a:p>
        </p:txBody>
      </p:sp>
      <p:sp>
        <p:nvSpPr>
          <p:cNvPr name="TextBox 196" id="196"/>
          <p:cNvSpPr txBox="true"/>
          <p:nvPr/>
        </p:nvSpPr>
        <p:spPr>
          <a:xfrm rot="0">
            <a:off x="10631378" y="1438415"/>
            <a:ext cx="18573750" cy="495300"/>
          </a:xfrm>
          <a:prstGeom prst="rect">
            <a:avLst/>
          </a:prstGeom>
        </p:spPr>
        <p:txBody>
          <a:bodyPr anchor="t" rtlCol="false" tIns="0" lIns="0" bIns="0" rIns="0">
            <a:spAutoFit/>
          </a:bodyPr>
          <a:lstStyle/>
          <a:p>
            <a:pPr algn="r">
              <a:lnSpc>
                <a:spcPts val="3840"/>
              </a:lnSpc>
            </a:pPr>
            <a:r>
              <a:rPr lang="en-US" sz="3200" b="true">
                <a:solidFill>
                  <a:srgbClr val="FFFFFF"/>
                </a:solidFill>
                <a:latin typeface="Archivo Narrow Bold"/>
                <a:ea typeface="Archivo Narrow Bold"/>
                <a:cs typeface="Archivo Narrow Bold"/>
                <a:sym typeface="Archivo Narrow Bold"/>
              </a:rPr>
              <a:t>Andy Tran &amp; Shuhei Yokkaichi</a:t>
            </a:r>
          </a:p>
        </p:txBody>
      </p:sp>
      <p:sp>
        <p:nvSpPr>
          <p:cNvPr name="TextBox 197" id="197"/>
          <p:cNvSpPr txBox="true"/>
          <p:nvPr/>
        </p:nvSpPr>
        <p:spPr>
          <a:xfrm rot="0">
            <a:off x="1220017" y="2987318"/>
            <a:ext cx="6131623" cy="381000"/>
          </a:xfrm>
          <a:prstGeom prst="rect">
            <a:avLst/>
          </a:prstGeom>
        </p:spPr>
        <p:txBody>
          <a:bodyPr anchor="t" rtlCol="false" tIns="0" lIns="0" bIns="0" rIns="0">
            <a:spAutoFit/>
          </a:bodyPr>
          <a:lstStyle/>
          <a:p>
            <a:pPr algn="l">
              <a:lnSpc>
                <a:spcPts val="2999"/>
              </a:lnSpc>
            </a:pPr>
            <a:r>
              <a:rPr lang="en-US" sz="2499" b="true">
                <a:solidFill>
                  <a:srgbClr val="0F2649"/>
                </a:solidFill>
                <a:latin typeface="Archivo Narrow Bold"/>
                <a:ea typeface="Archivo Narrow Bold"/>
                <a:cs typeface="Archivo Narrow Bold"/>
                <a:sym typeface="Archivo Narrow Bold"/>
              </a:rPr>
              <a:t>Background</a:t>
            </a:r>
          </a:p>
        </p:txBody>
      </p:sp>
      <p:sp>
        <p:nvSpPr>
          <p:cNvPr name="TextBox 198" id="198"/>
          <p:cNvSpPr txBox="true"/>
          <p:nvPr/>
        </p:nvSpPr>
        <p:spPr>
          <a:xfrm rot="0">
            <a:off x="1184241" y="3581540"/>
            <a:ext cx="5817855" cy="2295525"/>
          </a:xfrm>
          <a:prstGeom prst="rect">
            <a:avLst/>
          </a:prstGeom>
        </p:spPr>
        <p:txBody>
          <a:bodyPr anchor="t" rtlCol="false" tIns="0" lIns="0" bIns="0" rIns="0">
            <a:spAutoFit/>
          </a:bodyPr>
          <a:lstStyle/>
          <a:p>
            <a:pPr algn="l">
              <a:lnSpc>
                <a:spcPts val="2280"/>
              </a:lnSpc>
            </a:pPr>
            <a:r>
              <a:rPr lang="en-US" sz="1900" spc="-38">
                <a:solidFill>
                  <a:srgbClr val="404040"/>
                </a:solidFill>
                <a:latin typeface="Archivo Narrow"/>
                <a:ea typeface="Archivo Narrow"/>
                <a:cs typeface="Archivo Narrow"/>
                <a:sym typeface="Archivo Narrow"/>
              </a:rPr>
              <a:t>Geothermal separators supply dry, clean steam to turbines. Liquid carryover can cause erosion and mineral deposits [1]..</a:t>
            </a:r>
          </a:p>
          <a:p>
            <a:pPr algn="l">
              <a:lnSpc>
                <a:spcPts val="2280"/>
              </a:lnSpc>
            </a:pPr>
            <a:r>
              <a:rPr lang="en-US" sz="1900" spc="-38">
                <a:solidFill>
                  <a:srgbClr val="404040"/>
                </a:solidFill>
                <a:latin typeface="Archivo Narrow"/>
                <a:ea typeface="Archivo Narrow"/>
                <a:cs typeface="Archivo Narrow"/>
                <a:sym typeface="Archivo Narrow"/>
              </a:rPr>
              <a:t>Cyclone flow moves mineral-bearing water (brine) towards the wall, where it forms a draining film. Droplets can still leave with the steam.</a:t>
            </a:r>
          </a:p>
          <a:p>
            <a:pPr algn="l">
              <a:lnSpc>
                <a:spcPts val="2280"/>
              </a:lnSpc>
            </a:pPr>
            <a:r>
              <a:rPr lang="en-US" sz="1900" spc="-38">
                <a:solidFill>
                  <a:srgbClr val="404040"/>
                </a:solidFill>
                <a:latin typeface="Archivo Narrow"/>
                <a:ea typeface="Archivo Narrow"/>
                <a:cs typeface="Archivo Narrow"/>
                <a:sym typeface="Archivo Narrow"/>
              </a:rPr>
              <a:t>Building on Purnanto et al. [2], this study develops </a:t>
            </a:r>
            <a:r>
              <a:rPr lang="en-US" sz="1900" spc="-38">
                <a:solidFill>
                  <a:srgbClr val="404040"/>
                </a:solidFill>
                <a:latin typeface="Archivo Narrow"/>
                <a:ea typeface="Archivo Narrow"/>
                <a:cs typeface="Archivo Narrow"/>
                <a:sym typeface="Archivo Narrow"/>
              </a:rPr>
              <a:t>a computational fluid dynamics (CFD) model to examine liquid collection, wall roughness and wall-film behaviour.</a:t>
            </a:r>
          </a:p>
          <a:p>
            <a:pPr algn="l">
              <a:lnSpc>
                <a:spcPts val="2280"/>
              </a:lnSpc>
            </a:pPr>
          </a:p>
        </p:txBody>
      </p:sp>
      <p:sp>
        <p:nvSpPr>
          <p:cNvPr name="TextBox 199" id="199"/>
          <p:cNvSpPr txBox="true"/>
          <p:nvPr/>
        </p:nvSpPr>
        <p:spPr>
          <a:xfrm rot="0">
            <a:off x="1175433" y="6362697"/>
            <a:ext cx="3967645" cy="2009775"/>
          </a:xfrm>
          <a:prstGeom prst="rect">
            <a:avLst/>
          </a:prstGeom>
        </p:spPr>
        <p:txBody>
          <a:bodyPr anchor="t" rtlCol="false" tIns="0" lIns="0" bIns="0" rIns="0">
            <a:spAutoFit/>
          </a:bodyPr>
          <a:lstStyle/>
          <a:p>
            <a:pPr algn="l">
              <a:lnSpc>
                <a:spcPts val="2280"/>
              </a:lnSpc>
            </a:pPr>
            <a:r>
              <a:rPr lang="en-US" sz="1900" spc="-38">
                <a:solidFill>
                  <a:srgbClr val="404040"/>
                </a:solidFill>
                <a:latin typeface="Archivo Narrow"/>
                <a:ea typeface="Archivo Narrow"/>
                <a:cs typeface="Archivo Narrow"/>
                <a:sym typeface="Archivo Narrow"/>
              </a:rPr>
              <a:t>Poly-hexcore meshing was selected to improve cell quality and support faster model development. An efficient hexahedral core reduces computational cost, polyhedral cells support gradient estimation and transitions between cell types, and wall layers provide targeted refinement near the separator surface.</a:t>
            </a:r>
          </a:p>
        </p:txBody>
      </p:sp>
      <p:sp>
        <p:nvSpPr>
          <p:cNvPr name="TextBox 200" id="200"/>
          <p:cNvSpPr txBox="true"/>
          <p:nvPr/>
        </p:nvSpPr>
        <p:spPr>
          <a:xfrm rot="0">
            <a:off x="25102048" y="8500165"/>
            <a:ext cx="4103080" cy="1152525"/>
          </a:xfrm>
          <a:prstGeom prst="rect">
            <a:avLst/>
          </a:prstGeom>
        </p:spPr>
        <p:txBody>
          <a:bodyPr anchor="t" rtlCol="false" tIns="0" lIns="0" bIns="0" rIns="0">
            <a:spAutoFit/>
          </a:bodyPr>
          <a:lstStyle/>
          <a:p>
            <a:pPr algn="l">
              <a:lnSpc>
                <a:spcPts val="2280"/>
              </a:lnSpc>
            </a:pPr>
            <a:r>
              <a:rPr lang="en-US" sz="1900" spc="-38" b="true">
                <a:solidFill>
                  <a:srgbClr val="404040"/>
                </a:solidFill>
                <a:latin typeface="Archivo Narrow Bold"/>
                <a:ea typeface="Archivo Narrow Bold"/>
                <a:cs typeface="Archivo Narrow Bold"/>
                <a:sym typeface="Archivo Narrow Bold"/>
              </a:rPr>
              <a:t>Film spreads and stores liquid:</a:t>
            </a:r>
          </a:p>
          <a:p>
            <a:pPr algn="l">
              <a:lnSpc>
                <a:spcPts val="2280"/>
              </a:lnSpc>
            </a:pPr>
            <a:r>
              <a:rPr lang="en-US" sz="1900" spc="-38">
                <a:solidFill>
                  <a:srgbClr val="404040"/>
                </a:solidFill>
                <a:latin typeface="Archivo Narrow"/>
                <a:ea typeface="Archivo Narrow"/>
                <a:cs typeface="Archivo Narrow"/>
                <a:sym typeface="Archivo Narrow"/>
              </a:rPr>
              <a:t>Early runs showed a broader, thicker film over the lower and middle walls. The upper wall remained thinner.</a:t>
            </a:r>
          </a:p>
        </p:txBody>
      </p:sp>
      <p:sp>
        <p:nvSpPr>
          <p:cNvPr name="TextBox 201" id="201"/>
          <p:cNvSpPr txBox="true"/>
          <p:nvPr/>
        </p:nvSpPr>
        <p:spPr>
          <a:xfrm rot="0">
            <a:off x="19587259" y="10899570"/>
            <a:ext cx="5441557" cy="1438275"/>
          </a:xfrm>
          <a:prstGeom prst="rect">
            <a:avLst/>
          </a:prstGeom>
        </p:spPr>
        <p:txBody>
          <a:bodyPr anchor="t" rtlCol="false" tIns="0" lIns="0" bIns="0" rIns="0">
            <a:spAutoFit/>
          </a:bodyPr>
          <a:lstStyle/>
          <a:p>
            <a:pPr algn="l">
              <a:lnSpc>
                <a:spcPts val="2280"/>
              </a:lnSpc>
            </a:pPr>
            <a:r>
              <a:rPr lang="en-US" sz="1900" spc="-38" b="true">
                <a:solidFill>
                  <a:srgbClr val="404040"/>
                </a:solidFill>
                <a:latin typeface="Archivo Narrow Bold"/>
                <a:ea typeface="Archivo Narrow Bold"/>
                <a:cs typeface="Archivo Narrow Bold"/>
                <a:sym typeface="Archivo Narrow Bold"/>
              </a:rPr>
              <a:t>Added models to represent re-entrainment:</a:t>
            </a:r>
          </a:p>
          <a:p>
            <a:pPr algn="l">
              <a:lnSpc>
                <a:spcPts val="2280"/>
              </a:lnSpc>
            </a:pPr>
            <a:r>
              <a:rPr lang="en-US" sz="1900" spc="-38">
                <a:solidFill>
                  <a:srgbClr val="404040"/>
                </a:solidFill>
                <a:latin typeface="Archivo Narrow"/>
                <a:ea typeface="Archivo Narrow"/>
                <a:cs typeface="Archivo Narrow"/>
                <a:sym typeface="Archivo Narrow"/>
              </a:rPr>
              <a:t>L</a:t>
            </a:r>
            <a:r>
              <a:rPr lang="en-US" sz="1900" spc="-38">
                <a:solidFill>
                  <a:srgbClr val="404040"/>
                </a:solidFill>
                <a:latin typeface="Archivo Narrow"/>
                <a:ea typeface="Archivo Narrow"/>
                <a:cs typeface="Archivo Narrow"/>
                <a:sym typeface="Archivo Narrow"/>
              </a:rPr>
              <a:t>ater runs added stripping, splashing and edge separation to represent liquid re-entrainment from the wall film into the steam flow. These processes allow collected liquid to return as droplets, so wall contact does not guarantee permanent separation.</a:t>
            </a:r>
          </a:p>
        </p:txBody>
      </p:sp>
      <p:sp>
        <p:nvSpPr>
          <p:cNvPr name="TextBox 202" id="202"/>
          <p:cNvSpPr txBox="true"/>
          <p:nvPr/>
        </p:nvSpPr>
        <p:spPr>
          <a:xfrm rot="0">
            <a:off x="13722810" y="20421901"/>
            <a:ext cx="5802535" cy="216758"/>
          </a:xfrm>
          <a:prstGeom prst="rect">
            <a:avLst/>
          </a:prstGeom>
        </p:spPr>
        <p:txBody>
          <a:bodyPr anchor="t" rtlCol="false" tIns="0" lIns="0" bIns="0" rIns="0">
            <a:spAutoFit/>
          </a:bodyPr>
          <a:lstStyle/>
          <a:p>
            <a:pPr algn="l">
              <a:lnSpc>
                <a:spcPts val="1670"/>
              </a:lnSpc>
            </a:pPr>
            <a:r>
              <a:rPr lang="en-US" sz="1392" b="true">
                <a:solidFill>
                  <a:srgbClr val="0F2649"/>
                </a:solidFill>
                <a:latin typeface="Archivo Narrow Bold"/>
                <a:ea typeface="Archivo Narrow Bold"/>
                <a:cs typeface="Archivo Narrow Bold"/>
                <a:sym typeface="Archivo Narrow Bold"/>
              </a:rPr>
              <a:t>References</a:t>
            </a:r>
          </a:p>
        </p:txBody>
      </p:sp>
      <p:sp>
        <p:nvSpPr>
          <p:cNvPr name="TextBox 203" id="203"/>
          <p:cNvSpPr txBox="true"/>
          <p:nvPr/>
        </p:nvSpPr>
        <p:spPr>
          <a:xfrm rot="0">
            <a:off x="14834595" y="20431426"/>
            <a:ext cx="8554317" cy="157497"/>
          </a:xfrm>
          <a:prstGeom prst="rect">
            <a:avLst/>
          </a:prstGeom>
        </p:spPr>
        <p:txBody>
          <a:bodyPr anchor="t" rtlCol="false" tIns="0" lIns="0" bIns="0" rIns="0">
            <a:spAutoFit/>
          </a:bodyPr>
          <a:lstStyle/>
          <a:p>
            <a:pPr algn="l" marL="0" indent="0" lvl="0">
              <a:lnSpc>
                <a:spcPts val="1253"/>
              </a:lnSpc>
              <a:spcBef>
                <a:spcPct val="0"/>
              </a:spcBef>
            </a:pPr>
            <a:r>
              <a:rPr lang="en-US" b="true" sz="1044" strike="noStrike" u="none">
                <a:solidFill>
                  <a:srgbClr val="404040"/>
                </a:solidFill>
                <a:latin typeface="Archivo Narrow Bold"/>
                <a:ea typeface="Archivo Narrow Bold"/>
                <a:cs typeface="Archivo Narrow Bold"/>
                <a:sym typeface="Archivo Narrow Bold"/>
              </a:rPr>
              <a:t>[1] Zarrouk, S. J. &amp; Purnanto, M. H. (2015). Geothermal steam-water separators: Design overview. Geothermics, 53, 236–254. doi:10.1016/j.geothermics.2014.05.009.</a:t>
            </a:r>
          </a:p>
        </p:txBody>
      </p:sp>
      <p:sp>
        <p:nvSpPr>
          <p:cNvPr name="TextBox 204" id="204"/>
          <p:cNvSpPr txBox="true"/>
          <p:nvPr/>
        </p:nvSpPr>
        <p:spPr>
          <a:xfrm rot="0">
            <a:off x="14834595" y="20638660"/>
            <a:ext cx="8255572" cy="157497"/>
          </a:xfrm>
          <a:prstGeom prst="rect">
            <a:avLst/>
          </a:prstGeom>
        </p:spPr>
        <p:txBody>
          <a:bodyPr anchor="t" rtlCol="false" tIns="0" lIns="0" bIns="0" rIns="0">
            <a:spAutoFit/>
          </a:bodyPr>
          <a:lstStyle/>
          <a:p>
            <a:pPr algn="l" marL="0" indent="0" lvl="0">
              <a:lnSpc>
                <a:spcPts val="1253"/>
              </a:lnSpc>
              <a:spcBef>
                <a:spcPct val="0"/>
              </a:spcBef>
            </a:pPr>
            <a:r>
              <a:rPr lang="en-US" b="true" sz="1044" strike="noStrike" u="none">
                <a:solidFill>
                  <a:srgbClr val="404040"/>
                </a:solidFill>
                <a:latin typeface="Archivo Narrow Bold"/>
                <a:ea typeface="Archivo Narrow Bold"/>
                <a:cs typeface="Archivo Narrow Bold"/>
                <a:sym typeface="Archivo Narrow Bold"/>
              </a:rPr>
              <a:t>[2] Purnanto, M. H., Zarrouk, S. J. &amp; Cater, J. E. (2013). CFD modelling of two-phase flow inside geothermal steam-water separators. IPENZ Transactions, 40.</a:t>
            </a:r>
          </a:p>
        </p:txBody>
      </p:sp>
      <p:sp>
        <p:nvSpPr>
          <p:cNvPr name="TextBox 205" id="205"/>
          <p:cNvSpPr txBox="true"/>
          <p:nvPr/>
        </p:nvSpPr>
        <p:spPr>
          <a:xfrm rot="0">
            <a:off x="18378979" y="1971815"/>
            <a:ext cx="10975288" cy="981075"/>
          </a:xfrm>
          <a:prstGeom prst="rect">
            <a:avLst/>
          </a:prstGeom>
        </p:spPr>
        <p:txBody>
          <a:bodyPr anchor="t" rtlCol="false" tIns="0" lIns="0" bIns="0" rIns="0">
            <a:spAutoFit/>
          </a:bodyPr>
          <a:lstStyle/>
          <a:p>
            <a:pPr algn="r">
              <a:lnSpc>
                <a:spcPts val="3840"/>
              </a:lnSpc>
            </a:pPr>
            <a:r>
              <a:rPr lang="en-US" sz="3200">
                <a:solidFill>
                  <a:srgbClr val="FFFFFF"/>
                </a:solidFill>
                <a:latin typeface="Archivo Narrow"/>
                <a:ea typeface="Archivo Narrow"/>
                <a:cs typeface="Archivo Narrow"/>
                <a:sym typeface="Archivo Narrow"/>
              </a:rPr>
              <a:t>Supervisor(s): Assoc. Prof. Sadiq Zarrouk, Dr Maedeh Amirpour </a:t>
            </a:r>
          </a:p>
          <a:p>
            <a:pPr algn="r">
              <a:lnSpc>
                <a:spcPts val="3840"/>
              </a:lnSpc>
            </a:pPr>
            <a:r>
              <a:rPr lang="en-US" sz="3200">
                <a:solidFill>
                  <a:srgbClr val="FFFFFF"/>
                </a:solidFill>
                <a:latin typeface="Archivo Narrow"/>
                <a:ea typeface="Archivo Narrow"/>
                <a:cs typeface="Archivo Narrow"/>
                <a:sym typeface="Archivo Narrow"/>
              </a:rPr>
              <a:t> </a:t>
            </a:r>
          </a:p>
        </p:txBody>
      </p:sp>
      <p:sp>
        <p:nvSpPr>
          <p:cNvPr name="TextBox 206" id="206"/>
          <p:cNvSpPr txBox="true"/>
          <p:nvPr/>
        </p:nvSpPr>
        <p:spPr>
          <a:xfrm rot="0">
            <a:off x="1660923" y="19394694"/>
            <a:ext cx="2580321" cy="847725"/>
          </a:xfrm>
          <a:prstGeom prst="rect">
            <a:avLst/>
          </a:prstGeom>
        </p:spPr>
        <p:txBody>
          <a:bodyPr anchor="t" rtlCol="false" tIns="0" lIns="0" bIns="0" rIns="0">
            <a:spAutoFit/>
          </a:bodyPr>
          <a:lstStyle/>
          <a:p>
            <a:pPr algn="l">
              <a:lnSpc>
                <a:spcPts val="1680"/>
              </a:lnSpc>
            </a:pPr>
            <a:r>
              <a:rPr lang="en-US" sz="1400" spc="-28">
                <a:solidFill>
                  <a:srgbClr val="404040"/>
                </a:solidFill>
                <a:latin typeface="Archivo Narrow"/>
                <a:ea typeface="Archivo Narrow"/>
                <a:cs typeface="Archivo Narrow"/>
                <a:sym typeface="Archivo Narrow"/>
              </a:rPr>
              <a:t>Stores reusable knowledge from research papers, CFD theory and Fluent guidance, with links to the supporting sources and most importantly previous experiments.</a:t>
            </a:r>
          </a:p>
        </p:txBody>
      </p:sp>
      <p:sp>
        <p:nvSpPr>
          <p:cNvPr name="TextBox 207" id="207"/>
          <p:cNvSpPr txBox="true"/>
          <p:nvPr/>
        </p:nvSpPr>
        <p:spPr>
          <a:xfrm rot="0">
            <a:off x="23512737" y="15383127"/>
            <a:ext cx="5891176" cy="5153025"/>
          </a:xfrm>
          <a:prstGeom prst="rect">
            <a:avLst/>
          </a:prstGeom>
        </p:spPr>
        <p:txBody>
          <a:bodyPr anchor="t" rtlCol="false" tIns="0" lIns="0" bIns="0" rIns="0">
            <a:spAutoFit/>
          </a:bodyPr>
          <a:lstStyle/>
          <a:p>
            <a:pPr algn="l">
              <a:lnSpc>
                <a:spcPts val="2280"/>
              </a:lnSpc>
            </a:pPr>
            <a:r>
              <a:rPr lang="en-US" sz="1900" spc="-38" b="true">
                <a:solidFill>
                  <a:srgbClr val="404040"/>
                </a:solidFill>
                <a:latin typeface="Archivo Narrow Bold"/>
                <a:ea typeface="Archivo Narrow Bold"/>
                <a:cs typeface="Archivo Narrow Bold"/>
                <a:sym typeface="Archivo Narrow Bold"/>
              </a:rPr>
              <a:t>Three design concepts are proposed to improve liquid collection:</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Vertical film blocker: intercept circulating wall liquid before it meets the incoming steam.</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Angled film ramp: redirect wall liquid towards the lower collection region.</a:t>
            </a:r>
          </a:p>
          <a:p>
            <a:pPr algn="l">
              <a:lnSpc>
                <a:spcPts val="2280"/>
              </a:lnSpc>
            </a:pPr>
            <a:r>
              <a:rPr lang="en-US" sz="1900" spc="-38">
                <a:solidFill>
                  <a:srgbClr val="404040"/>
                </a:solidFill>
                <a:latin typeface="Archivo Narrow"/>
                <a:ea typeface="Archivo Narrow"/>
                <a:cs typeface="Archivo Narrow"/>
                <a:sym typeface="Archivo Narrow"/>
              </a:rPr>
              <a:t>A more radical proposal (Not shown on the left)</a:t>
            </a:r>
          </a:p>
          <a:p>
            <a:pPr algn="l" marL="410213" indent="-205106" lvl="1">
              <a:lnSpc>
                <a:spcPts val="2280"/>
              </a:lnSpc>
              <a:buFont typeface="Arial"/>
              <a:buChar char="•"/>
            </a:pPr>
            <a:r>
              <a:rPr lang="en-US" sz="1900" spc="-38">
                <a:solidFill>
                  <a:srgbClr val="404040"/>
                </a:solidFill>
                <a:latin typeface="Archivo Narrow"/>
                <a:ea typeface="Archivo Narrow"/>
                <a:cs typeface="Archivo Narrow"/>
                <a:sym typeface="Archivo Narrow"/>
              </a:rPr>
              <a:t>External collection channel: collect wall liquid through a shell opening and route it down an external drain.</a:t>
            </a:r>
          </a:p>
          <a:p>
            <a:pPr algn="l">
              <a:lnSpc>
                <a:spcPts val="2280"/>
              </a:lnSpc>
            </a:pPr>
            <a:r>
              <a:rPr lang="en-US" sz="1900" spc="-38">
                <a:solidFill>
                  <a:srgbClr val="404040"/>
                </a:solidFill>
                <a:latin typeface="Archivo Narrow"/>
                <a:ea typeface="Archivo Narrow"/>
                <a:cs typeface="Archivo Narrow"/>
                <a:sym typeface="Archivo Narrow"/>
              </a:rPr>
              <a:t>Their effect on separation performance remains unverified. With short film development times and differences in mesh and film-model settings, the volume fraction and velocity vector figures show preliminary inlet-region behaviour; they do not isolate geometry effects or demonstrate improved efficiency.</a:t>
            </a:r>
          </a:p>
          <a:p>
            <a:pPr algn="l">
              <a:lnSpc>
                <a:spcPts val="2280"/>
              </a:lnSpc>
            </a:pPr>
          </a:p>
          <a:p>
            <a:pPr algn="l">
              <a:lnSpc>
                <a:spcPts val="2280"/>
              </a:lnSpc>
            </a:pPr>
            <a:r>
              <a:rPr lang="en-US" sz="1900" spc="-38" b="true">
                <a:solidFill>
                  <a:srgbClr val="404040"/>
                </a:solidFill>
                <a:latin typeface="Archivo Narrow Bold"/>
                <a:ea typeface="Archivo Narrow Bold"/>
                <a:cs typeface="Archivo Narrow Bold"/>
                <a:sym typeface="Archivo Narrow Bold"/>
              </a:rPr>
              <a:t>Future work:</a:t>
            </a:r>
            <a:r>
              <a:rPr lang="en-US" sz="1900" spc="-38">
                <a:solidFill>
                  <a:srgbClr val="404040"/>
                </a:solidFill>
                <a:latin typeface="Archivo Narrow"/>
                <a:ea typeface="Archivo Narrow"/>
                <a:cs typeface="Archivo Narrow"/>
                <a:sym typeface="Archivo Narrow"/>
              </a:rPr>
              <a:t> Assess steam-outlet liquid carryover, collected liquid, film accumulation and pressure drop.</a:t>
            </a:r>
          </a:p>
          <a:p>
            <a:pPr algn="l">
              <a:lnSpc>
                <a:spcPts val="2280"/>
              </a:lnSpc>
            </a:pPr>
          </a:p>
          <a:p>
            <a:pPr algn="l">
              <a:lnSpc>
                <a:spcPts val="2280"/>
              </a:lnSpc>
            </a:pPr>
          </a:p>
        </p:txBody>
      </p:sp>
      <p:sp>
        <p:nvSpPr>
          <p:cNvPr name="TextBox 208" id="208"/>
          <p:cNvSpPr txBox="true"/>
          <p:nvPr/>
        </p:nvSpPr>
        <p:spPr>
          <a:xfrm rot="0">
            <a:off x="16417166" y="17592088"/>
            <a:ext cx="1561281" cy="295275"/>
          </a:xfrm>
          <a:prstGeom prst="rect">
            <a:avLst/>
          </a:prstGeom>
        </p:spPr>
        <p:txBody>
          <a:bodyPr anchor="t" rtlCol="false" tIns="0" lIns="0" bIns="0" rIns="0">
            <a:spAutoFit/>
          </a:bodyPr>
          <a:lstStyle/>
          <a:p>
            <a:pPr algn="ctr">
              <a:lnSpc>
                <a:spcPts val="2279"/>
              </a:lnSpc>
              <a:spcBef>
                <a:spcPct val="0"/>
              </a:spcBef>
            </a:pPr>
            <a:r>
              <a:rPr lang="en-US" b="true" sz="1899">
                <a:solidFill>
                  <a:srgbClr val="000000"/>
                </a:solidFill>
                <a:latin typeface="Archivo Narrow Bold"/>
                <a:ea typeface="Archivo Narrow Bold"/>
                <a:cs typeface="Archivo Narrow Bold"/>
                <a:sym typeface="Archivo Narrow Bold"/>
              </a:rPr>
              <a:t>Design Proposal</a:t>
            </a:r>
          </a:p>
        </p:txBody>
      </p:sp>
      <p:sp>
        <p:nvSpPr>
          <p:cNvPr name="TextBox 209" id="209"/>
          <p:cNvSpPr txBox="true"/>
          <p:nvPr/>
        </p:nvSpPr>
        <p:spPr>
          <a:xfrm rot="0">
            <a:off x="18701474" y="17636573"/>
            <a:ext cx="1429464" cy="295275"/>
          </a:xfrm>
          <a:prstGeom prst="rect">
            <a:avLst/>
          </a:prstGeom>
        </p:spPr>
        <p:txBody>
          <a:bodyPr anchor="t" rtlCol="false" tIns="0" lIns="0" bIns="0" rIns="0">
            <a:spAutoFit/>
          </a:bodyPr>
          <a:lstStyle/>
          <a:p>
            <a:pPr algn="ctr">
              <a:lnSpc>
                <a:spcPts val="2279"/>
              </a:lnSpc>
              <a:spcBef>
                <a:spcPct val="0"/>
              </a:spcBef>
            </a:pPr>
            <a:r>
              <a:rPr lang="en-US" sz="1899">
                <a:solidFill>
                  <a:srgbClr val="000000"/>
                </a:solidFill>
                <a:latin typeface="Archivo Narrow"/>
                <a:ea typeface="Archivo Narrow"/>
                <a:cs typeface="Archivo Narrow"/>
                <a:sym typeface="Archivo Narrow"/>
              </a:rPr>
              <a:t>Volume Fraction</a:t>
            </a:r>
          </a:p>
        </p:txBody>
      </p:sp>
      <p:sp>
        <p:nvSpPr>
          <p:cNvPr name="TextBox 210" id="210"/>
          <p:cNvSpPr txBox="true"/>
          <p:nvPr/>
        </p:nvSpPr>
        <p:spPr>
          <a:xfrm rot="0">
            <a:off x="15026812" y="8370579"/>
            <a:ext cx="2009052" cy="295275"/>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Archivo Narrow"/>
                <a:ea typeface="Archivo Narrow"/>
                <a:cs typeface="Archivo Narrow"/>
                <a:sym typeface="Archivo Narrow"/>
              </a:rPr>
              <a:t>M</a:t>
            </a:r>
            <a:r>
              <a:rPr lang="en-US" sz="1899">
                <a:solidFill>
                  <a:srgbClr val="000000"/>
                </a:solidFill>
                <a:latin typeface="Archivo Narrow"/>
                <a:ea typeface="Archivo Narrow"/>
                <a:cs typeface="Archivo Narrow"/>
                <a:sym typeface="Archivo Narrow"/>
              </a:rPr>
              <a:t>ass conservation</a:t>
            </a:r>
          </a:p>
        </p:txBody>
      </p:sp>
      <p:sp>
        <p:nvSpPr>
          <p:cNvPr name="TextBox 211" id="211"/>
          <p:cNvSpPr txBox="true"/>
          <p:nvPr/>
        </p:nvSpPr>
        <p:spPr>
          <a:xfrm rot="0">
            <a:off x="15026812" y="9062709"/>
            <a:ext cx="2816772" cy="295275"/>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Archivo Narrow"/>
                <a:ea typeface="Archivo Narrow"/>
                <a:cs typeface="Archivo Narrow"/>
                <a:sym typeface="Archivo Narrow"/>
              </a:rPr>
              <a:t>Momentum</a:t>
            </a:r>
            <a:r>
              <a:rPr lang="en-US" sz="1899">
                <a:solidFill>
                  <a:srgbClr val="000000"/>
                </a:solidFill>
                <a:latin typeface="Archivo Narrow"/>
                <a:ea typeface="Archivo Narrow"/>
                <a:cs typeface="Archivo Narrow"/>
                <a:sym typeface="Archivo Narrow"/>
              </a:rPr>
              <a:t> conservation</a:t>
            </a:r>
          </a:p>
        </p:txBody>
      </p:sp>
      <p:sp>
        <p:nvSpPr>
          <p:cNvPr name="TextBox 212" id="212"/>
          <p:cNvSpPr txBox="true"/>
          <p:nvPr/>
        </p:nvSpPr>
        <p:spPr>
          <a:xfrm rot="0">
            <a:off x="15026812" y="10021712"/>
            <a:ext cx="2496732" cy="295275"/>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Archivo Narrow"/>
                <a:ea typeface="Archivo Narrow"/>
                <a:cs typeface="Archivo Narrow"/>
                <a:sym typeface="Archivo Narrow"/>
              </a:rPr>
              <a:t>Liquid-ph</a:t>
            </a:r>
            <a:r>
              <a:rPr lang="en-US" sz="1899">
                <a:solidFill>
                  <a:srgbClr val="000000"/>
                </a:solidFill>
                <a:latin typeface="Archivo Narrow"/>
                <a:ea typeface="Archivo Narrow"/>
                <a:cs typeface="Archivo Narrow"/>
                <a:sym typeface="Archivo Narrow"/>
              </a:rPr>
              <a:t>ase transport</a:t>
            </a:r>
          </a:p>
        </p:txBody>
      </p:sp>
      <p:sp>
        <p:nvSpPr>
          <p:cNvPr name="TextBox 213" id="213"/>
          <p:cNvSpPr txBox="true"/>
          <p:nvPr/>
        </p:nvSpPr>
        <p:spPr>
          <a:xfrm rot="0">
            <a:off x="11416379" y="16189725"/>
            <a:ext cx="691650" cy="295275"/>
          </a:xfrm>
          <a:prstGeom prst="rect">
            <a:avLst/>
          </a:prstGeom>
        </p:spPr>
        <p:txBody>
          <a:bodyPr anchor="t" rtlCol="false" tIns="0" lIns="0" bIns="0" rIns="0">
            <a:spAutoFit/>
          </a:bodyPr>
          <a:lstStyle/>
          <a:p>
            <a:pPr algn="l">
              <a:lnSpc>
                <a:spcPts val="2280"/>
              </a:lnSpc>
            </a:pPr>
            <a:r>
              <a:rPr lang="en-US" sz="1900" spc="-38" b="true">
                <a:solidFill>
                  <a:srgbClr val="404040"/>
                </a:solidFill>
                <a:latin typeface="Archivo Narrow Bold"/>
                <a:ea typeface="Archivo Narrow Bold"/>
                <a:cs typeface="Archivo Narrow Bold"/>
                <a:sym typeface="Archivo Narrow Bold"/>
              </a:rPr>
              <a:t>GitHub</a:t>
            </a:r>
          </a:p>
        </p:txBody>
      </p:sp>
      <p:sp>
        <p:nvSpPr>
          <p:cNvPr name="Freeform 214" id="214"/>
          <p:cNvSpPr/>
          <p:nvPr/>
        </p:nvSpPr>
        <p:spPr>
          <a:xfrm flipH="false" flipV="false" rot="0">
            <a:off x="18275743" y="16968633"/>
            <a:ext cx="370719" cy="1690455"/>
          </a:xfrm>
          <a:custGeom>
            <a:avLst/>
            <a:gdLst/>
            <a:ahLst/>
            <a:cxnLst/>
            <a:rect r="r" b="b" t="t" l="l"/>
            <a:pathLst>
              <a:path h="1690455" w="370719">
                <a:moveTo>
                  <a:pt x="0" y="0"/>
                </a:moveTo>
                <a:lnTo>
                  <a:pt x="370719" y="0"/>
                </a:lnTo>
                <a:lnTo>
                  <a:pt x="370719" y="1690455"/>
                </a:lnTo>
                <a:lnTo>
                  <a:pt x="0" y="1690455"/>
                </a:lnTo>
                <a:lnTo>
                  <a:pt x="0" y="0"/>
                </a:lnTo>
                <a:close/>
              </a:path>
            </a:pathLst>
          </a:custGeom>
          <a:blipFill>
            <a:blip r:embed="rId54"/>
            <a:stretch>
              <a:fillRect l="0" t="-39496" r="-836902" b="-31680"/>
            </a:stretch>
          </a:blipFill>
        </p:spPr>
      </p:sp>
      <p:grpSp>
        <p:nvGrpSpPr>
          <p:cNvPr name="Group 215" id="215"/>
          <p:cNvGrpSpPr/>
          <p:nvPr/>
        </p:nvGrpSpPr>
        <p:grpSpPr>
          <a:xfrm rot="0">
            <a:off x="18338104" y="18069457"/>
            <a:ext cx="2015900" cy="1902949"/>
            <a:chOff x="0" y="0"/>
            <a:chExt cx="2687866" cy="2537265"/>
          </a:xfrm>
        </p:grpSpPr>
        <p:sp>
          <p:nvSpPr>
            <p:cNvPr name="Freeform 216" id="216"/>
            <p:cNvSpPr/>
            <p:nvPr/>
          </p:nvSpPr>
          <p:spPr>
            <a:xfrm flipH="false" flipV="false" rot="0">
              <a:off x="0" y="795943"/>
              <a:ext cx="1999998" cy="1741323"/>
            </a:xfrm>
            <a:custGeom>
              <a:avLst/>
              <a:gdLst/>
              <a:ahLst/>
              <a:cxnLst/>
              <a:rect r="r" b="b" t="t" l="l"/>
              <a:pathLst>
                <a:path h="1741323" w="1999998">
                  <a:moveTo>
                    <a:pt x="0" y="0"/>
                  </a:moveTo>
                  <a:lnTo>
                    <a:pt x="1999998" y="0"/>
                  </a:lnTo>
                  <a:lnTo>
                    <a:pt x="1999998" y="1741322"/>
                  </a:lnTo>
                  <a:lnTo>
                    <a:pt x="0" y="1741322"/>
                  </a:lnTo>
                  <a:lnTo>
                    <a:pt x="0" y="0"/>
                  </a:lnTo>
                  <a:close/>
                </a:path>
              </a:pathLst>
            </a:custGeom>
            <a:blipFill>
              <a:blip r:embed="rId54"/>
              <a:stretch>
                <a:fillRect l="-67097" t="-41970" r="0" b="-17922"/>
              </a:stretch>
            </a:blipFill>
          </p:spPr>
        </p:sp>
        <p:sp>
          <p:nvSpPr>
            <p:cNvPr name="Freeform 217" id="217"/>
            <p:cNvSpPr/>
            <p:nvPr/>
          </p:nvSpPr>
          <p:spPr>
            <a:xfrm flipH="false" flipV="false" rot="0">
              <a:off x="1104322" y="0"/>
              <a:ext cx="1583544" cy="1267213"/>
            </a:xfrm>
            <a:custGeom>
              <a:avLst/>
              <a:gdLst/>
              <a:ahLst/>
              <a:cxnLst/>
              <a:rect r="r" b="b" t="t" l="l"/>
              <a:pathLst>
                <a:path h="1267213" w="1583544">
                  <a:moveTo>
                    <a:pt x="0" y="0"/>
                  </a:moveTo>
                  <a:lnTo>
                    <a:pt x="1583544" y="0"/>
                  </a:lnTo>
                  <a:lnTo>
                    <a:pt x="1583544" y="1267213"/>
                  </a:lnTo>
                  <a:lnTo>
                    <a:pt x="0" y="1267213"/>
                  </a:lnTo>
                  <a:lnTo>
                    <a:pt x="0" y="0"/>
                  </a:lnTo>
                  <a:close/>
                </a:path>
              </a:pathLst>
            </a:custGeom>
            <a:blipFill>
              <a:blip r:embed="rId55"/>
              <a:stretch>
                <a:fillRect l="-180473" t="-266930" r="-119155" b="-49121"/>
              </a:stretch>
            </a:blipFill>
          </p:spPr>
        </p:sp>
        <p:sp>
          <p:nvSpPr>
            <p:cNvPr name="Freeform 218" id="218"/>
            <p:cNvSpPr/>
            <p:nvPr/>
          </p:nvSpPr>
          <p:spPr>
            <a:xfrm>
              <a:off x="595327" y="1026149"/>
              <a:ext cx="773784" cy="1038462"/>
            </a:xfrm>
            <a:custGeom>
              <a:avLst/>
              <a:gdLst/>
              <a:ahLst/>
              <a:cxnLst/>
              <a:rect r="r" b="b" t="t" l="l"/>
              <a:pathLst>
                <a:path h="1038462" w="773784">
                  <a:moveTo>
                    <a:pt x="0" y="1038462"/>
                  </a:moveTo>
                  <a:quadBezTo>
                    <a:pt x="98198" y="304118"/>
                    <a:pt x="773783" y="0"/>
                  </a:quadBezTo>
                </a:path>
              </a:pathLst>
            </a:custGeom>
            <a:ln cap="flat" w="25400">
              <a:solidFill>
                <a:srgbClr val="FF3131"/>
              </a:solidFill>
              <a:prstDash val="solid"/>
              <a:headEnd type="none" len="sm" w="sm"/>
              <a:tailEnd type="triangle" len="med" w="lg"/>
            </a:ln>
          </p:spPr>
        </p:sp>
        <p:grpSp>
          <p:nvGrpSpPr>
            <p:cNvPr name="Group 219" id="219"/>
            <p:cNvGrpSpPr/>
            <p:nvPr/>
          </p:nvGrpSpPr>
          <p:grpSpPr>
            <a:xfrm rot="0">
              <a:off x="298960" y="2064611"/>
              <a:ext cx="592733" cy="458956"/>
              <a:chOff x="0" y="0"/>
              <a:chExt cx="621190" cy="480991"/>
            </a:xfrm>
          </p:grpSpPr>
          <p:sp>
            <p:nvSpPr>
              <p:cNvPr name="Freeform 220" id="220"/>
              <p:cNvSpPr/>
              <p:nvPr/>
            </p:nvSpPr>
            <p:spPr>
              <a:xfrm flipH="false" flipV="false" rot="0">
                <a:off x="0" y="0"/>
                <a:ext cx="621190" cy="480991"/>
              </a:xfrm>
              <a:custGeom>
                <a:avLst/>
                <a:gdLst/>
                <a:ahLst/>
                <a:cxnLst/>
                <a:rect r="r" b="b" t="t" l="l"/>
                <a:pathLst>
                  <a:path h="480991" w="621190">
                    <a:moveTo>
                      <a:pt x="310595" y="0"/>
                    </a:moveTo>
                    <a:cubicBezTo>
                      <a:pt x="139058" y="0"/>
                      <a:pt x="0" y="107673"/>
                      <a:pt x="0" y="240495"/>
                    </a:cubicBezTo>
                    <a:cubicBezTo>
                      <a:pt x="0" y="373317"/>
                      <a:pt x="139058" y="480991"/>
                      <a:pt x="310595" y="480991"/>
                    </a:cubicBezTo>
                    <a:cubicBezTo>
                      <a:pt x="482132" y="480991"/>
                      <a:pt x="621190" y="373317"/>
                      <a:pt x="621190" y="240495"/>
                    </a:cubicBezTo>
                    <a:cubicBezTo>
                      <a:pt x="621190" y="107673"/>
                      <a:pt x="482132" y="0"/>
                      <a:pt x="310595" y="0"/>
                    </a:cubicBezTo>
                    <a:close/>
                  </a:path>
                </a:pathLst>
              </a:custGeom>
              <a:ln w="9525" cap="sq">
                <a:solidFill>
                  <a:srgbClr val="FF3131"/>
                </a:solidFill>
                <a:prstDash val="solid"/>
                <a:miter/>
              </a:ln>
            </p:spPr>
          </p:sp>
          <p:sp>
            <p:nvSpPr>
              <p:cNvPr name="TextBox 221" id="221"/>
              <p:cNvSpPr txBox="true"/>
              <p:nvPr/>
            </p:nvSpPr>
            <p:spPr>
              <a:xfrm>
                <a:off x="58237" y="35568"/>
                <a:ext cx="504717" cy="400330"/>
              </a:xfrm>
              <a:prstGeom prst="rect">
                <a:avLst/>
              </a:prstGeom>
            </p:spPr>
            <p:txBody>
              <a:bodyPr anchor="ctr" rtlCol="false" tIns="64436" lIns="64436" bIns="64436" rIns="64436"/>
              <a:lstStyle/>
              <a:p>
                <a:pPr algn="ctr">
                  <a:lnSpc>
                    <a:spcPts val="4139"/>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DAHXJE2xMXQ</dc:identifier>
  <dcterms:modified xsi:type="dcterms:W3CDTF">2011-08-01T06:04:30Z</dcterms:modified>
  <cp:revision>1</cp:revision>
  <dc:title>A1 Landscape — Geothermal Separator Poster — Working Draft</dc:title>
</cp:coreProperties>
</file>